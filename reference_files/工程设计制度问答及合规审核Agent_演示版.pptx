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sign_change_agent_dem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80847" y="504349"/>
            <a:ext cx="34205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K COMPANY · ENGINEERING INTELLIGENCE</a:t>
            </a:r>
            <a:endParaRPr lang="en-US" sz="98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66750" y="1372552"/>
            <a:ext cx="4257056" cy="1419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950"/>
              </a:lnSpc>
            </a:pPr>
            <a:r>
              <a:rPr lang="zh-CN" sz="40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工程设计制度问答</a:t>
            </a:r>
            <a:br>
              <a:rPr lang="zh-CN" sz="40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40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及合规审核 Agent</a:t>
            </a:r>
            <a:endParaRPr lang="zh-CN" sz="40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16280" y="3190875"/>
            <a:ext cx="56692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把制度、项目数据与审计规则，收敛到一个可追溯的回答入口。</a:t>
            </a:r>
            <a:endParaRPr lang="zh-CN" sz="150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723900" y="3905250"/>
            <a:ext cx="135255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53096" y="39890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制度问答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2190750" y="39052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555938" y="39890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项目数据查询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3771900" y="39052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137088" y="39890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变更合规审计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19138" y="5903595"/>
            <a:ext cx="24530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DEMO PRESENTATION / 25 PAGES</a:t>
            </a:r>
            <a:endParaRPr lang="en-US" sz="900" b="1" spc="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030135" y="5887402"/>
            <a:ext cx="5004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v1.0.0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7239000" y="1485900"/>
            <a:ext cx="3429000" cy="2857500"/>
          </a:xfrm>
          <a:prstGeom prst="roundRect">
            <a:avLst>
              <a:gd name="adj" fmla="val 8000"/>
            </a:avLst>
          </a:prstGeom>
          <a:solidFill>
            <a:srgbClr val="0E2234"/>
          </a:solidFill>
          <a:ln w="19050">
            <a:solidFill>
              <a:srgbClr val="17384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539038" y="1769745"/>
            <a:ext cx="12321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1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CONTROL ROOM</a:t>
            </a:r>
            <a:endParaRPr lang="en-US" sz="900" b="1" spc="1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7696200" y="2571750"/>
            <a:ext cx="400050" cy="1619250"/>
          </a:xfrm>
          <a:prstGeom prst="roundRect">
            <a:avLst>
              <a:gd name="adj" fmla="val 11905"/>
            </a:avLst>
          </a:prstGeom>
          <a:solidFill>
            <a:srgbClr val="102B40"/>
          </a:solidFill>
          <a:ln w="9525">
            <a:solidFill>
              <a:srgbClr val="65E4D4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7772400" y="27432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7772400" y="30289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772400" y="33147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7772400" y="36004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210550" y="2381250"/>
            <a:ext cx="400050" cy="1809750"/>
          </a:xfrm>
          <a:prstGeom prst="roundRect">
            <a:avLst>
              <a:gd name="adj" fmla="val 11905"/>
            </a:avLst>
          </a:prstGeom>
          <a:solidFill>
            <a:srgbClr val="102B40"/>
          </a:solidFill>
          <a:ln w="9525">
            <a:solidFill>
              <a:srgbClr val="65E4D4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286750" y="25527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286750" y="28384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8286750" y="31242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8286750" y="34099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8724900" y="2190750"/>
            <a:ext cx="400050" cy="2000250"/>
          </a:xfrm>
          <a:prstGeom prst="roundRect">
            <a:avLst>
              <a:gd name="adj" fmla="val 11905"/>
            </a:avLst>
          </a:prstGeom>
          <a:solidFill>
            <a:srgbClr val="102B40"/>
          </a:solidFill>
          <a:ln w="9525">
            <a:solidFill>
              <a:srgbClr val="65E4D4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801100" y="23622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8801100" y="26479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8801100" y="29337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8801100" y="32194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239250" y="2000250"/>
            <a:ext cx="400050" cy="2190750"/>
          </a:xfrm>
          <a:prstGeom prst="roundRect">
            <a:avLst>
              <a:gd name="adj" fmla="val 11905"/>
            </a:avLst>
          </a:prstGeom>
          <a:solidFill>
            <a:srgbClr val="102B40"/>
          </a:solidFill>
          <a:ln w="9525">
            <a:solidFill>
              <a:srgbClr val="65E4D4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9315450" y="21717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15450" y="24574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9315450" y="27432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9315450" y="30289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9753600" y="1809750"/>
            <a:ext cx="400050" cy="2381250"/>
          </a:xfrm>
          <a:prstGeom prst="roundRect">
            <a:avLst>
              <a:gd name="adj" fmla="val 11905"/>
            </a:avLst>
          </a:prstGeom>
          <a:solidFill>
            <a:srgbClr val="102B40"/>
          </a:solidFill>
          <a:ln w="9525">
            <a:solidFill>
              <a:srgbClr val="65E4D4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9829800" y="19812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9829800" y="22669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9829800" y="255270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829800" y="2838450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143E4E"/>
          </a:solidFill>
          <a:ln>
            <a:noFill/>
          </a:ln>
        </p:spPr>
      </p:sp>
      <p:sp>
        <p:nvSpPr>
          <p:cNvPr id="68" name="Line 68"/>
          <p:cNvSpPr/>
          <p:nvPr/>
        </p:nvSpPr>
        <p:spPr>
          <a:xfrm>
            <a:off x="7429500" y="49530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65E4D4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7519797" y="5171599"/>
            <a:ext cx="17235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75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POLICY · DATA · AUDIT</a:t>
            </a:r>
            <a:endParaRPr lang="en-US" sz="980" b="1" spc="75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Ellipse 70"/>
          <p:cNvSpPr/>
          <p:nvPr/>
        </p:nvSpPr>
        <p:spPr>
          <a:xfrm>
            <a:off x="10287000" y="1790700"/>
            <a:ext cx="495300" cy="495300"/>
          </a:xfrm>
          <a:prstGeom prst="ellipse">
            <a:avLst/>
          </a:prstGeom>
          <a:noFill/>
          <a:ln w="19050">
            <a:solidFill>
              <a:srgbClr val="B7F36B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10467492" y="1990249"/>
            <a:ext cx="1343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AI</a:t>
            </a:r>
            <a:endParaRPr lang="en-US" sz="98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01 · 项目概述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437342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为什么需要一个工程变更 Agent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11972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项目建设背景与痛点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733550"/>
            <a:ext cx="4762500" cy="1428750"/>
          </a:xfrm>
          <a:prstGeom prst="roundRect">
            <a:avLst>
              <a:gd name="adj" fmla="val 12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70966" y="19631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10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7156" y="22250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制度散落</a:t>
            </a:r>
            <a:endParaRPr lang="zh-CN" sz="18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70585" y="2602706"/>
            <a:ext cx="36197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PDF、台账、审批记录、评审资料分散在不同载体。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lipse 41"/>
          <p:cNvSpPr/>
          <p:nvPr/>
        </p:nvSpPr>
        <p:spPr>
          <a:xfrm>
            <a:off x="4705350" y="1962150"/>
            <a:ext cx="342900" cy="342900"/>
          </a:xfrm>
          <a:prstGeom prst="ellipse">
            <a:avLst/>
          </a:prstGeom>
          <a:noFill/>
          <a:ln w="19050">
            <a:solidFill>
              <a:srgbClr val="FF6B6B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943600" y="1733550"/>
            <a:ext cx="4762500" cy="1428750"/>
          </a:xfrm>
          <a:prstGeom prst="roundRect">
            <a:avLst>
              <a:gd name="adj" fmla="val 12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204966" y="19631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0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201156" y="22250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定位很慢</a:t>
            </a:r>
            <a:endParaRPr lang="zh-CN" sz="18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204585" y="2602706"/>
            <a:ext cx="2145030" cy="448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人工翻找条款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难以快速锁定章节、条款与页码。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llipse 46"/>
          <p:cNvSpPr/>
          <p:nvPr/>
        </p:nvSpPr>
        <p:spPr>
          <a:xfrm>
            <a:off x="10039350" y="1962150"/>
            <a:ext cx="342900" cy="342900"/>
          </a:xfrm>
          <a:prstGeom prst="ellipse">
            <a:avLst/>
          </a:prstGeom>
          <a:noFill/>
          <a:ln w="19050">
            <a:solidFill>
              <a:srgbClr val="FFB454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09600" y="3600450"/>
            <a:ext cx="4762500" cy="1428750"/>
          </a:xfrm>
          <a:prstGeom prst="roundRect">
            <a:avLst>
              <a:gd name="adj" fmla="val 12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70966" y="38300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0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67156" y="40919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口径不一</a:t>
            </a:r>
            <a:endParaRPr lang="zh-CN" sz="18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70585" y="4469606"/>
            <a:ext cx="1433830" cy="448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跨项目、跨角色核对时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结论依赖个人经验。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Ellipse 51"/>
          <p:cNvSpPr/>
          <p:nvPr/>
        </p:nvSpPr>
        <p:spPr>
          <a:xfrm>
            <a:off x="4705350" y="3829050"/>
            <a:ext cx="342900" cy="342900"/>
          </a:xfrm>
          <a:prstGeom prst="ellipse">
            <a:avLst/>
          </a:prstGeom>
          <a:noFill/>
          <a:ln w="19050">
            <a:solidFill>
              <a:srgbClr val="4BA3FF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5943600" y="3600450"/>
            <a:ext cx="4762500" cy="1428750"/>
          </a:xfrm>
          <a:prstGeom prst="roundRect">
            <a:avLst>
              <a:gd name="adj" fmla="val 12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204966" y="38300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0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6201156" y="40919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风险滞后</a:t>
            </a:r>
            <a:endParaRPr lang="zh-CN" sz="18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204585" y="4469606"/>
            <a:ext cx="28761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公示、审批、评审异常常在事后才被发现。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Ellipse 56"/>
          <p:cNvSpPr/>
          <p:nvPr/>
        </p:nvSpPr>
        <p:spPr>
          <a:xfrm>
            <a:off x="10039350" y="3829050"/>
            <a:ext cx="342900" cy="342900"/>
          </a:xfrm>
          <a:prstGeom prst="ellipse">
            <a:avLst/>
          </a:prstGeom>
          <a:noFill/>
          <a:ln w="19050">
            <a:solidFill>
              <a:srgbClr val="B7F36B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01218" y="5727382"/>
            <a:ext cx="481961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统一入口 = 更快定位 · 更稳口径 · 更早识别风险</a:t>
            </a:r>
            <a:endParaRPr lang="zh-CN" sz="16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01 · 项目概述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项目建设目标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三个统一，让复杂问题变成可解释回答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lipse 37"/>
          <p:cNvSpPr/>
          <p:nvPr/>
        </p:nvSpPr>
        <p:spPr>
          <a:xfrm>
            <a:off x="1238250" y="1676400"/>
            <a:ext cx="1790700" cy="1790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1447800" y="1885950"/>
            <a:ext cx="1371600" cy="1371600"/>
          </a:xfrm>
          <a:prstGeom prst="ellipse">
            <a:avLst/>
          </a:prstGeom>
          <a:noFill/>
          <a:ln w="9525">
            <a:solidFill>
              <a:srgbClr val="65E4D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947248" y="22336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2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722120" y="26193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统一入口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82980" y="38385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自然语言提问</a:t>
            </a:r>
            <a:endParaRPr lang="zh-CN" sz="15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84885" y="4221956"/>
            <a:ext cx="1718310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不需要记住菜单路径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直接问制度、项目和风险。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llipse 43"/>
          <p:cNvSpPr/>
          <p:nvPr/>
        </p:nvSpPr>
        <p:spPr>
          <a:xfrm>
            <a:off x="4762500" y="1676400"/>
            <a:ext cx="1790700" cy="1790700"/>
          </a:xfrm>
          <a:prstGeom prst="ellipse">
            <a:avLst/>
          </a:prstGeom>
          <a:noFill/>
          <a:ln w="28575">
            <a:solidFill>
              <a:srgbClr val="4BA3FF"/>
            </a:solidFill>
          </a:ln>
        </p:spPr>
      </p:sp>
      <p:sp>
        <p:nvSpPr>
          <p:cNvPr id="44" name="Ellipse 44"/>
          <p:cNvSpPr/>
          <p:nvPr/>
        </p:nvSpPr>
        <p:spPr>
          <a:xfrm>
            <a:off x="4972050" y="1885950"/>
            <a:ext cx="1371600" cy="1371600"/>
          </a:xfrm>
          <a:prstGeom prst="ellipse">
            <a:avLst/>
          </a:prstGeom>
          <a:noFill/>
          <a:ln w="9525">
            <a:solidFill>
              <a:srgbClr val="4BA3F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5471498" y="22336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2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5246370" y="26193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统一权限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507230" y="38385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按角色可见</a:t>
            </a:r>
            <a:endParaRPr lang="zh-CN" sz="150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509135" y="4221956"/>
            <a:ext cx="1469390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A / B / C 决定项目范围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过滤在后端执行。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llipse 49"/>
          <p:cNvSpPr/>
          <p:nvPr/>
        </p:nvSpPr>
        <p:spPr>
          <a:xfrm>
            <a:off x="8286750" y="1676400"/>
            <a:ext cx="1790700" cy="1790700"/>
          </a:xfrm>
          <a:prstGeom prst="ellipse">
            <a:avLst/>
          </a:prstGeom>
          <a:noFill/>
          <a:ln w="28575">
            <a:solidFill>
              <a:srgbClr val="B7F36B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8496300" y="1885950"/>
            <a:ext cx="1371600" cy="1371600"/>
          </a:xfrm>
          <a:prstGeom prst="ellipse">
            <a:avLst/>
          </a:prstGeom>
          <a:noFill/>
          <a:ln w="9525">
            <a:solidFill>
              <a:srgbClr val="B7F36B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95748" y="223361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2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770620" y="26193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统一结论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8031480" y="3838575"/>
            <a:ext cx="17144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依据 + 事实 + 审计</a:t>
            </a:r>
            <a:endParaRPr lang="zh-CN" sz="150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033385" y="4221956"/>
            <a:ext cx="31776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回答同时给出制度证据、业务数据和关注事项。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2133600" y="257175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17384B"/>
            </a:solidFill>
          </a:ln>
        </p:spPr>
      </p:sp>
      <p:sp>
        <p:nvSpPr>
          <p:cNvPr id="56" name="Line 56"/>
          <p:cNvSpPr/>
          <p:nvPr/>
        </p:nvSpPr>
        <p:spPr>
          <a:xfrm>
            <a:off x="5657850" y="257175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17384B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01218" y="5727382"/>
            <a:ext cx="36629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目标状态：可演示 · 可扩展 · 可追溯</a:t>
            </a:r>
            <a:endParaRPr lang="zh-CN" sz="16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4912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 · DEMO 制作过程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1431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数据与资料准备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两类输入，支撑一套可复核的演示闭环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76400"/>
            <a:ext cx="4857750" cy="2952750"/>
          </a:xfrm>
          <a:prstGeom prst="roundRect">
            <a:avLst>
              <a:gd name="adj" fmla="val 5806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772150" y="1676400"/>
            <a:ext cx="5810250" cy="2952750"/>
          </a:xfrm>
          <a:prstGeom prst="roundRect">
            <a:avLst>
              <a:gd name="adj" fmla="val 5806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07542" y="1949768"/>
            <a:ext cx="7909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制度 PDF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070092" y="1949768"/>
            <a:ext cx="147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Excel 模拟数据库</a:t>
            </a:r>
            <a:endParaRPr lang="zh-CN" sz="13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914400" y="2628900"/>
            <a:ext cx="4000500" cy="419100"/>
          </a:xfrm>
          <a:prstGeom prst="roundRect">
            <a:avLst>
              <a:gd name="adj" fmla="val 22727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19188" y="2798445"/>
            <a:ext cx="231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PDF</a:t>
            </a:r>
            <a:endParaRPr lang="en-US" sz="9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632204" y="27660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设计变更管理办法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914400" y="3257550"/>
            <a:ext cx="4000500" cy="419100"/>
          </a:xfrm>
          <a:prstGeom prst="roundRect">
            <a:avLst>
              <a:gd name="adj" fmla="val 22727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19188" y="3427095"/>
            <a:ext cx="231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PDF</a:t>
            </a:r>
            <a:endParaRPr lang="en-US" sz="9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632204" y="33947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技术委员会评审规则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Ellipse 47"/>
          <p:cNvSpPr/>
          <p:nvPr/>
        </p:nvSpPr>
        <p:spPr>
          <a:xfrm>
            <a:off x="6029325" y="2524125"/>
            <a:ext cx="95250" cy="95250"/>
          </a:xfrm>
          <a:prstGeom prst="ellipse">
            <a:avLst/>
          </a:prstGeom>
          <a:solidFill>
            <a:srgbClr val="4BA3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280023" y="2491264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8 个项目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llipse 49"/>
          <p:cNvSpPr/>
          <p:nvPr/>
        </p:nvSpPr>
        <p:spPr>
          <a:xfrm>
            <a:off x="6029325" y="2962275"/>
            <a:ext cx="95250" cy="95250"/>
          </a:xfrm>
          <a:prstGeom prst="ellipse">
            <a:avLst/>
          </a:prstGeom>
          <a:solidFill>
            <a:srgbClr val="4BA3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280023" y="2929414"/>
            <a:ext cx="11157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40 条设计变更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Ellipse 51"/>
          <p:cNvSpPr/>
          <p:nvPr/>
        </p:nvSpPr>
        <p:spPr>
          <a:xfrm>
            <a:off x="6029325" y="3400425"/>
            <a:ext cx="95250" cy="95250"/>
          </a:xfrm>
          <a:prstGeom prst="ellipse">
            <a:avLst/>
          </a:prstGeom>
          <a:solidFill>
            <a:srgbClr val="4BA3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280023" y="3367564"/>
            <a:ext cx="15379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6 条技术委员会评审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Ellipse 53"/>
          <p:cNvSpPr/>
          <p:nvPr/>
        </p:nvSpPr>
        <p:spPr>
          <a:xfrm>
            <a:off x="6029325" y="3838575"/>
            <a:ext cx="95250" cy="95250"/>
          </a:xfrm>
          <a:prstGeom prst="ellipse">
            <a:avLst/>
          </a:prstGeom>
          <a:solidFill>
            <a:srgbClr val="4BA3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280023" y="3805714"/>
            <a:ext cx="11157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40 条审批记录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914400" y="4095750"/>
            <a:ext cx="171450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374941" y="4179570"/>
            <a:ext cx="7934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74 个制度切片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6076950" y="409575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559522" y="4179570"/>
            <a:ext cx="8446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4 张关联数据表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02742" y="5378768"/>
            <a:ext cx="36757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同时维护：用户建议工作簿 · 版本说明工作簿</a:t>
            </a:r>
            <a:endParaRPr lang="zh-CN" sz="13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4912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 · DEMO 制作过程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1431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知识库构建流程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14611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从制度原文到可追溯证据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05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lipse 37"/>
          <p:cNvSpPr/>
          <p:nvPr/>
        </p:nvSpPr>
        <p:spPr>
          <a:xfrm>
            <a:off x="552450" y="228600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89336" y="25822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73380" y="32670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拆分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75666" y="36395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按章节与条款切片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1276350" y="26098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42" name="Ellipse 42"/>
          <p:cNvSpPr/>
          <p:nvPr/>
        </p:nvSpPr>
        <p:spPr>
          <a:xfrm>
            <a:off x="3276600" y="228600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513486" y="25822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097530" y="32670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标注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099816" y="3639502"/>
            <a:ext cx="410718" cy="6625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文件名</a:t>
            </a:r>
            <a:b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页码</a:t>
            </a:r>
            <a:b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条款号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4000500" y="26098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47" name="Ellipse 47"/>
          <p:cNvSpPr/>
          <p:nvPr/>
        </p:nvSpPr>
        <p:spPr>
          <a:xfrm>
            <a:off x="6000750" y="228600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237636" y="25822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5821680" y="32670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向量化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823966" y="3639502"/>
            <a:ext cx="2198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DashScope / text-embedding-v3</a:t>
            </a:r>
            <a:endParaRPr lang="en-US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6724650" y="26098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52" name="Ellipse 52"/>
          <p:cNvSpPr/>
          <p:nvPr/>
        </p:nvSpPr>
        <p:spPr>
          <a:xfrm>
            <a:off x="8724900" y="228600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961786" y="25822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545830" y="32670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检索</a:t>
            </a:r>
            <a:endParaRPr lang="zh-CN" sz="15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548116" y="36395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相似度优先，返回证据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876300" y="4762500"/>
            <a:ext cx="9620250" cy="819150"/>
          </a:xfrm>
          <a:prstGeom prst="roundRect">
            <a:avLst>
              <a:gd name="adj" fmla="val 1860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155954" y="4975860"/>
            <a:ext cx="19041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RAG/vector_index.json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155192" y="5245418"/>
            <a:ext cx="38847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每条回答都能落回：条款编号 + 页码 + 原文片段</a:t>
            </a:r>
            <a:endParaRPr lang="zh-CN" sz="13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Rectangle 59"/>
          <p:cNvSpPr/>
          <p:nvPr/>
        </p:nvSpPr>
        <p:spPr>
          <a:xfrm>
            <a:off x="9848850" y="5029200"/>
            <a:ext cx="1085850" cy="266700"/>
          </a:xfrm>
          <a:prstGeom prst="roundRect">
            <a:avLst>
              <a:gd name="adj" fmla="val 50000"/>
            </a:avLst>
          </a:prstGeom>
          <a:solidFill>
            <a:srgbClr val="B7F36B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0205276" y="511302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可追溯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4912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 · DEMO 制作过程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应用页面制作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9239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Streamlit 承载状态，自定义组件负责沉浸式体验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06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19250"/>
            <a:ext cx="6858000" cy="3810000"/>
          </a:xfrm>
          <a:prstGeom prst="roundRect">
            <a:avLst>
              <a:gd name="adj" fmla="val 5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57250" y="1924050"/>
            <a:ext cx="6362700" cy="457200"/>
          </a:xfrm>
          <a:prstGeom prst="roundRect">
            <a:avLst>
              <a:gd name="adj" fmla="val 25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60704" y="20897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工程设计变更智能审计问答</a:t>
            </a:r>
            <a:endParaRPr lang="zh-CN" sz="12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565068" y="20735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⚙</a:t>
            </a:r>
            <a:endParaRPr lang="en-US" sz="13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857250" y="2609850"/>
            <a:ext cx="1981200" cy="2457450"/>
          </a:xfrm>
          <a:prstGeom prst="roundRect">
            <a:avLst>
              <a:gd name="adj" fmla="val 6731"/>
            </a:avLst>
          </a:prstGeom>
          <a:solidFill>
            <a:srgbClr val="0B1928"/>
          </a:solidFill>
          <a:ln w="9525">
            <a:solidFill>
              <a:srgbClr val="17384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080897" y="28284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角色选择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llipse 43"/>
          <p:cNvSpPr/>
          <p:nvPr/>
        </p:nvSpPr>
        <p:spPr>
          <a:xfrm>
            <a:off x="1143000" y="3181350"/>
            <a:ext cx="533400" cy="533400"/>
          </a:xfrm>
          <a:prstGeom prst="ellipse">
            <a:avLst/>
          </a:prstGeom>
          <a:noFill/>
          <a:ln w="28575">
            <a:solidFill>
              <a:srgbClr val="FF6B6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340472" y="33528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sz="150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822704" y="33566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项目经理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llipse 46"/>
          <p:cNvSpPr/>
          <p:nvPr/>
        </p:nvSpPr>
        <p:spPr>
          <a:xfrm>
            <a:off x="1143000" y="3790950"/>
            <a:ext cx="533400" cy="533400"/>
          </a:xfrm>
          <a:prstGeom prst="ellipse">
            <a:avLst/>
          </a:prstGeom>
          <a:noFill/>
          <a:ln w="28575">
            <a:solidFill>
              <a:srgbClr val="4BA3F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340472" y="39624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B</a:t>
            </a:r>
            <a:endParaRPr lang="en-US" sz="150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822704" y="3966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区域管理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llipse 49"/>
          <p:cNvSpPr/>
          <p:nvPr/>
        </p:nvSpPr>
        <p:spPr>
          <a:xfrm>
            <a:off x="1143000" y="4400550"/>
            <a:ext cx="533400" cy="533400"/>
          </a:xfrm>
          <a:prstGeom prst="ellipse">
            <a:avLst/>
          </a:prstGeom>
          <a:noFill/>
          <a:ln w="28575">
            <a:solidFill>
              <a:srgbClr val="B7F36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340472" y="4572000"/>
            <a:ext cx="1384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C</a:t>
            </a:r>
            <a:endParaRPr lang="en-US" sz="150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822704" y="4575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全部项目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3067050" y="2609850"/>
            <a:ext cx="4152900" cy="2457450"/>
          </a:xfrm>
          <a:prstGeom prst="roundRect">
            <a:avLst>
              <a:gd name="adj" fmla="val 5426"/>
            </a:avLst>
          </a:prstGeom>
          <a:solidFill>
            <a:srgbClr val="0B1928"/>
          </a:solidFill>
          <a:ln w="9525">
            <a:solidFill>
              <a:srgbClr val="17384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309747" y="2828449"/>
            <a:ext cx="960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智能问答 · 在线</a:t>
            </a:r>
            <a:endParaRPr lang="zh-CN" sz="98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3314700" y="3257550"/>
            <a:ext cx="2724150" cy="400050"/>
          </a:xfrm>
          <a:prstGeom prst="roundRect">
            <a:avLst>
              <a:gd name="adj" fmla="val 47619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3480816" y="3401378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当前角色可见项目有哪些？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4171950" y="3829050"/>
            <a:ext cx="2762250" cy="571500"/>
          </a:xfrm>
          <a:prstGeom prst="roundRect">
            <a:avLst>
              <a:gd name="adj" fmla="val 26667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356735" y="3936206"/>
            <a:ext cx="1732534" cy="4295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zh-CN" sz="112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A 角色当前可见 1 个项目：</a:t>
            </a:r>
            <a:br>
              <a:rPr lang="zh-CN" sz="112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</a:br>
            <a:r>
              <a:rPr lang="en-US" sz="112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K2025-001</a:t>
            </a:r>
            <a:endParaRPr lang="en-US" sz="112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3314700" y="4629150"/>
            <a:ext cx="3467100" cy="323850"/>
          </a:xfrm>
          <a:prstGeom prst="roundRect">
            <a:avLst>
              <a:gd name="adj" fmla="val 50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3481197" y="4742974"/>
            <a:ext cx="9465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输入您的问题……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052054" y="20040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前端体验关键词</a:t>
            </a:r>
            <a:endParaRPr lang="zh-CN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8058150" y="24955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382571" y="25793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图片轮播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9334500" y="24955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719500" y="25793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毛玻璃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8058150" y="29527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382571" y="30365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天气组件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9334500" y="29527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B7F36B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658922" y="30365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聊天弹窗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8049006" y="3520440"/>
            <a:ext cx="2111121" cy="999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50"/>
              </a:lnSpc>
            </a:pPr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首页不是“工具页”，</a:t>
            </a:r>
            <a:b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而是一个可进入的</a:t>
            </a:r>
            <a:b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8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工程智能工作台。</a:t>
            </a:r>
            <a:endParaRPr lang="zh-CN" sz="18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 · 核心功能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角色权限与数据范围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9386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权限决定“能看什么”，后端过滤决定“只能看什么”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07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752600"/>
            <a:ext cx="3238500" cy="2857500"/>
          </a:xfrm>
          <a:prstGeom prst="roundRect">
            <a:avLst>
              <a:gd name="adj" fmla="val 6000"/>
            </a:avLst>
          </a:prstGeom>
          <a:solidFill>
            <a:srgbClr val="0E2234"/>
          </a:solidFill>
          <a:ln w="19050">
            <a:solidFill>
              <a:srgbClr val="FF6B6B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838200" y="2019300"/>
            <a:ext cx="571500" cy="571500"/>
          </a:xfrm>
          <a:prstGeom prst="ellipse">
            <a:avLst/>
          </a:prstGeom>
          <a:noFill/>
          <a:ln w="28575">
            <a:solidFill>
              <a:srgbClr val="FF6B6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47800" y="2212658"/>
            <a:ext cx="1523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sz="16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592199" y="20969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项目经理</a:t>
            </a:r>
            <a:endParaRPr lang="zh-CN" sz="15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595438" y="24555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可见范围</a:t>
            </a:r>
            <a:endParaRPr lang="zh-CN" sz="90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08304" y="3108960"/>
            <a:ext cx="8570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K2025-001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07542" y="4045268"/>
            <a:ext cx="7211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1 个项目</a:t>
            </a:r>
            <a:endParaRPr lang="zh-CN" sz="13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914400" y="4362450"/>
            <a:ext cx="2552700" cy="9525"/>
          </a:xfrm>
          <a:custGeom>
            <a:avLst/>
            <a:gdLst/>
            <a:ahLst/>
            <a:cxnLst/>
            <a:rect l="l" t="t" r="r" b="b"/>
            <a:pathLst>
              <a:path w="2552700" h="952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09447" y="4733449"/>
            <a:ext cx="16128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查询 + 审计均遵循当前角色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4267200" y="1752600"/>
            <a:ext cx="3238500" cy="2857500"/>
          </a:xfrm>
          <a:prstGeom prst="roundRect">
            <a:avLst>
              <a:gd name="adj" fmla="val 6000"/>
            </a:avLst>
          </a:prstGeom>
          <a:solidFill>
            <a:srgbClr val="0E2234"/>
          </a:solidFill>
          <a:ln w="19050">
            <a:solidFill>
              <a:srgbClr val="4BA3FF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4495800" y="2019300"/>
            <a:ext cx="571500" cy="571500"/>
          </a:xfrm>
          <a:prstGeom prst="ellipse">
            <a:avLst/>
          </a:prstGeom>
          <a:noFill/>
          <a:ln w="28575">
            <a:solidFill>
              <a:srgbClr val="4BA3FF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4705400" y="2212658"/>
            <a:ext cx="1523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B</a:t>
            </a:r>
            <a:endParaRPr lang="en-US" sz="16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5249799" y="20969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区域管理</a:t>
            </a:r>
            <a:endParaRPr lang="zh-CN" sz="15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253038" y="24555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可见范围</a:t>
            </a:r>
            <a:endParaRPr lang="zh-CN" sz="90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565904" y="3108960"/>
            <a:ext cx="766572" cy="729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K2025-001</a:t>
            </a:r>
            <a:b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002</a:t>
            </a:r>
            <a:b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003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565142" y="4045268"/>
            <a:ext cx="7211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3 个项目</a:t>
            </a:r>
            <a:endParaRPr lang="zh-CN" sz="13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Line 53"/>
          <p:cNvSpPr/>
          <p:nvPr/>
        </p:nvSpPr>
        <p:spPr>
          <a:xfrm>
            <a:off x="4572000" y="4362450"/>
            <a:ext cx="2552700" cy="9525"/>
          </a:xfrm>
          <a:custGeom>
            <a:avLst/>
            <a:gdLst/>
            <a:ahLst/>
            <a:cxnLst/>
            <a:rect l="l" t="t" r="r" b="b"/>
            <a:pathLst>
              <a:path w="2552700" h="952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567047" y="4733449"/>
            <a:ext cx="16128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查询 + 审计均遵循当前角色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7924800" y="1752600"/>
            <a:ext cx="3238500" cy="2857500"/>
          </a:xfrm>
          <a:prstGeom prst="roundRect">
            <a:avLst>
              <a:gd name="adj" fmla="val 6000"/>
            </a:avLst>
          </a:prstGeom>
          <a:solidFill>
            <a:srgbClr val="0E2234"/>
          </a:solidFill>
          <a:ln w="19050">
            <a:solidFill>
              <a:srgbClr val="B7F36B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8153400" y="2019300"/>
            <a:ext cx="571500" cy="571500"/>
          </a:xfrm>
          <a:prstGeom prst="ellipse">
            <a:avLst/>
          </a:prstGeom>
          <a:noFill/>
          <a:ln w="28575">
            <a:solidFill>
              <a:srgbClr val="B7F36B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8363000" y="2212658"/>
            <a:ext cx="1523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C</a:t>
            </a:r>
            <a:endParaRPr lang="en-US" sz="16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907399" y="2096929"/>
            <a:ext cx="8668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集团视角</a:t>
            </a:r>
            <a:endParaRPr lang="zh-CN" sz="15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910638" y="24555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可见范围</a:t>
            </a:r>
            <a:endParaRPr lang="zh-CN" sz="90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223504" y="31089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全部 8 个项目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8222742" y="4045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全量数据</a:t>
            </a:r>
            <a:endParaRPr lang="zh-CN" sz="13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Line 62"/>
          <p:cNvSpPr/>
          <p:nvPr/>
        </p:nvSpPr>
        <p:spPr>
          <a:xfrm>
            <a:off x="8229600" y="4362450"/>
            <a:ext cx="2552700" cy="9525"/>
          </a:xfrm>
          <a:custGeom>
            <a:avLst/>
            <a:gdLst/>
            <a:ahLst/>
            <a:cxnLst/>
            <a:rect l="l" t="t" r="r" b="b"/>
            <a:pathLst>
              <a:path w="2552700" h="952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224647" y="4733449"/>
            <a:ext cx="16128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查询 + 审计均遵循当前角色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602361" y="5465921"/>
            <a:ext cx="51695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权限不是 UI 装饰，而是每次查询与审计的后端前置条件。</a:t>
            </a:r>
            <a:endParaRPr lang="zh-CN" sz="14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 · 核心功能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制度问答功能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6484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回答不止给结论，还要给出可复核的制度证据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08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95450"/>
            <a:ext cx="4857750" cy="3429000"/>
          </a:xfrm>
          <a:prstGeom prst="roundRect">
            <a:avLst>
              <a:gd name="adj" fmla="val 5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90016" y="19631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用户问题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895350" y="2381250"/>
            <a:ext cx="4191000" cy="800100"/>
          </a:xfrm>
          <a:prstGeom prst="roundRect">
            <a:avLst>
              <a:gd name="adj" fmla="val 19048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97661" y="2532221"/>
            <a:ext cx="2358898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超过 200 万元的设计变更，</a:t>
            </a:r>
            <a:b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必须经过技术委员会评审吗？</a:t>
            </a:r>
            <a:endParaRPr lang="zh-CN" sz="14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895350" y="356235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248346" y="3646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制度问答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90016" y="4077652"/>
            <a:ext cx="8502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路由：policy</a:t>
            </a:r>
            <a:endParaRPr lang="zh-CN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90016" y="4363402"/>
            <a:ext cx="1750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证据编号：P-042 · P-057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5905500" y="1695450"/>
            <a:ext cx="5676900" cy="3429000"/>
          </a:xfrm>
          <a:prstGeom prst="roundRect">
            <a:avLst>
              <a:gd name="adj" fmla="val 5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185916" y="19631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回答结构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185154" y="23850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lang="zh-CN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184011" y="2665571"/>
            <a:ext cx="2424271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是。核准金额超过 200 万元，</a:t>
            </a:r>
            <a:b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需要技术委员会评审。</a:t>
            </a:r>
            <a:endParaRPr lang="zh-CN" sz="14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Line 49"/>
          <p:cNvSpPr/>
          <p:nvPr/>
        </p:nvSpPr>
        <p:spPr>
          <a:xfrm>
            <a:off x="6191250" y="3352800"/>
            <a:ext cx="4933950" cy="9525"/>
          </a:xfrm>
          <a:custGeom>
            <a:avLst/>
            <a:gdLst/>
            <a:ahLst/>
            <a:cxnLst/>
            <a:rect l="l" t="t" r="r" b="b"/>
            <a:pathLst>
              <a:path w="4933950" h="9525">
                <a:moveTo>
                  <a:pt x="0" y="0"/>
                </a:moveTo>
                <a:lnTo>
                  <a:pt x="49339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185154" y="3585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证据</a:t>
            </a:r>
            <a:endParaRPr lang="zh-CN" sz="120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185535" y="3898106"/>
            <a:ext cx="2337054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P-042 设计变更管理办法 · 第 18 条</a:t>
            </a:r>
            <a:b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P-057 技术委员会评审规则 · 第 7 条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186297" y="4714399"/>
            <a:ext cx="31893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无法确认的内容：明确提示“现有制度切片无法确认”。</a:t>
            </a:r>
            <a:endParaRPr lang="zh-CN" sz="980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 · 核心功能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项目数据库查询功能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6516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Excel 四表关联，输出角色范围内的项目事实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09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192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4022" y="17030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项目清单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1885950" y="16192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210372" y="17030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变更记录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3162300" y="16192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486722" y="17030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审批记录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609600" y="2133600"/>
            <a:ext cx="10972800" cy="3143250"/>
          </a:xfrm>
          <a:prstGeom prst="roundRect">
            <a:avLst>
              <a:gd name="adj" fmla="val 545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89635" y="2374106"/>
            <a:ext cx="17295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当前角色：B · 区域管理</a:t>
            </a:r>
            <a:endParaRPr lang="zh-CN" sz="11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002447" y="2374106"/>
            <a:ext cx="8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3 个项目可见</a:t>
            </a:r>
            <a:endParaRPr lang="zh-CN" sz="112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90397" y="2847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项目编号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185797" y="2847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471797" y="2847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变更编号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186297" y="2847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估算金额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710297" y="2847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核准金额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329547" y="2847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审批状态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Line 52"/>
          <p:cNvSpPr/>
          <p:nvPr/>
        </p:nvSpPr>
        <p:spPr>
          <a:xfrm>
            <a:off x="895350" y="318135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89635" y="3250406"/>
            <a:ext cx="8000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K2025-001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2185035" y="32504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南方厂区改造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4471035" y="3250406"/>
            <a:ext cx="5371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DC-001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185535" y="3250406"/>
            <a:ext cx="539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¥1.20m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7709535" y="3250406"/>
            <a:ext cx="539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¥1.08m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9328785" y="3250406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已批准</a:t>
            </a:r>
            <a:endParaRPr lang="zh-CN" sz="112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Line 59"/>
          <p:cNvSpPr/>
          <p:nvPr/>
        </p:nvSpPr>
        <p:spPr>
          <a:xfrm>
            <a:off x="895350" y="37719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89635" y="3840956"/>
            <a:ext cx="8000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K2026-002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185035" y="384095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东部输变电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4471035" y="3840956"/>
            <a:ext cx="5371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DC-014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6185535" y="3840956"/>
            <a:ext cx="539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¥0.86m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7709535" y="3840956"/>
            <a:ext cx="539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¥0.72m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9328785" y="3840956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待补件</a:t>
            </a:r>
            <a:endParaRPr lang="zh-CN" sz="112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Line 66"/>
          <p:cNvSpPr/>
          <p:nvPr/>
        </p:nvSpPr>
        <p:spPr>
          <a:xfrm>
            <a:off x="895350" y="436245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889635" y="4431506"/>
            <a:ext cx="8000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K2025-003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2185035" y="44315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沿江管廊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4471035" y="4431506"/>
            <a:ext cx="5371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DC-021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6185535" y="4431506"/>
            <a:ext cx="539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¥2.40m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7709535" y="4431506"/>
            <a:ext cx="539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¥2.30m</a:t>
            </a:r>
            <a:endParaRPr lang="en-US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9328785" y="4431506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已批准</a:t>
            </a:r>
            <a:endParaRPr lang="zh-CN" sz="112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602742" y="5664518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支持按项目编号、项目名称、变更编号进行关联查询。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 · 核心功能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设计变更合规审计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6748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确定性规则检查，区分“高风险”与“待补数据”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10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95450"/>
            <a:ext cx="2476500" cy="3143250"/>
          </a:xfrm>
          <a:prstGeom prst="roundRect">
            <a:avLst>
              <a:gd name="adj" fmla="val 6923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89635" y="19740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审计总览</a:t>
            </a:r>
            <a:endParaRPr lang="zh-CN" sz="112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76300" y="2254568"/>
            <a:ext cx="71446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3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15</a:t>
            </a:r>
            <a:endParaRPr lang="en-US" sz="43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89254" y="29184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条关注结果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895350" y="3314700"/>
            <a:ext cx="1771650" cy="9525"/>
          </a:xfrm>
          <a:custGeom>
            <a:avLst/>
            <a:gdLst/>
            <a:ahLst/>
            <a:cxnLst/>
            <a:rect l="l" t="t" r="r" b="b"/>
            <a:pathLst>
              <a:path w="1771650" h="9525">
                <a:moveTo>
                  <a:pt x="0" y="0"/>
                </a:moveTo>
                <a:lnTo>
                  <a:pt x="17716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90016" y="360140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高风险</a:t>
            </a:r>
            <a:endParaRPr lang="zh-CN" sz="10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244592" y="35366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9</a:t>
            </a:r>
            <a:endParaRPr lang="en-US" sz="16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90016" y="3982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待补数据</a:t>
            </a:r>
            <a:endParaRPr lang="zh-CN" sz="10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2244592" y="39176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6</a:t>
            </a:r>
            <a:endParaRPr lang="en-US" sz="16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3429000" y="1695450"/>
            <a:ext cx="8153400" cy="3143250"/>
          </a:xfrm>
          <a:prstGeom prst="roundRect">
            <a:avLst>
              <a:gd name="adj" fmla="val 545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709035" y="19740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重点规则</a:t>
            </a:r>
            <a:endParaRPr lang="zh-CN" sz="112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3714750" y="2609850"/>
            <a:ext cx="7524750" cy="533400"/>
          </a:xfrm>
          <a:prstGeom prst="roundRect">
            <a:avLst>
              <a:gd name="adj" fmla="val 21429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3886200" y="2819400"/>
            <a:ext cx="114300" cy="1143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165473" y="2796064"/>
            <a:ext cx="22336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累计核准占比 &gt; 5% 且未公示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10077450" y="27432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367200" y="282702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高风险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3714750" y="3352800"/>
            <a:ext cx="7524750" cy="533400"/>
          </a:xfrm>
          <a:prstGeom prst="roundRect">
            <a:avLst>
              <a:gd name="adj" fmla="val 21429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3886200" y="3562350"/>
            <a:ext cx="114300" cy="1143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165473" y="3539014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审批层级不足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10077450" y="34861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367200" y="35699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高风险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3714750" y="4095750"/>
            <a:ext cx="7524750" cy="533400"/>
          </a:xfrm>
          <a:prstGeom prst="roundRect">
            <a:avLst>
              <a:gd name="adj" fmla="val 21429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3886200" y="4305300"/>
            <a:ext cx="114300" cy="1143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4165473" y="4281964"/>
            <a:ext cx="21423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&gt; ¥2m 且缺少 / 未通过评审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10077450" y="42291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306622" y="43129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待补数据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708654" y="4404360"/>
            <a:ext cx="26469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审计不把“数据缺失”误判为“违规”。</a:t>
            </a:r>
            <a:endParaRPr lang="zh-CN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 · 核心功能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参考文件、建议与版本管理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9386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把“依据从哪里来”与“产品如何迭代”放在同一入口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11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95450"/>
            <a:ext cx="4762500" cy="3390900"/>
          </a:xfrm>
          <a:prstGeom prst="roundRect">
            <a:avLst>
              <a:gd name="adj" fmla="val 5056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89635" y="19550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参考文件</a:t>
            </a:r>
            <a:endParaRPr lang="zh-CN" sz="11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895350" y="2400300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208319" y="2484120"/>
            <a:ext cx="231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PDF</a:t>
            </a:r>
            <a:endParaRPr lang="en-US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1847850" y="24003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206142" y="2484120"/>
            <a:ext cx="3311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Excel</a:t>
            </a:r>
            <a:endParaRPr lang="en-US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2990850" y="24003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267646" y="24841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其他资料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Line 45"/>
          <p:cNvSpPr/>
          <p:nvPr/>
        </p:nvSpPr>
        <p:spPr>
          <a:xfrm>
            <a:off x="895350" y="2914650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889635" y="2983706"/>
            <a:ext cx="18508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设计变更管理办法（2024）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547396" y="2999899"/>
            <a:ext cx="3915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预览 ↗</a:t>
            </a:r>
            <a:endParaRPr lang="zh-CN" sz="98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895350" y="3429000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889635" y="3498056"/>
            <a:ext cx="20016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技术委员会评审规则（2025）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4547396" y="3514249"/>
            <a:ext cx="3915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预览 ↗</a:t>
            </a:r>
            <a:endParaRPr lang="zh-CN" sz="98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895350" y="3943350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89635" y="4012406"/>
            <a:ext cx="17227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8 项目完整模拟数据.xlsx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547396" y="4028599"/>
            <a:ext cx="3915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预览 ↗</a:t>
            </a:r>
            <a:endParaRPr lang="zh-CN" sz="98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5810250" y="1695450"/>
            <a:ext cx="5772150" cy="3390900"/>
          </a:xfrm>
          <a:prstGeom prst="roundRect">
            <a:avLst>
              <a:gd name="adj" fmla="val 5056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090285" y="1955006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建议与版本</a:t>
            </a:r>
            <a:endParaRPr lang="zh-CN" sz="112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091047" y="246649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用户建议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089523" y="2757964"/>
            <a:ext cx="29595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“希望增加先批后建的时间顺序核验。”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6096000" y="3238500"/>
            <a:ext cx="876300" cy="266700"/>
          </a:xfrm>
          <a:prstGeom prst="roundRect">
            <a:avLst>
              <a:gd name="adj" fmla="val 50000"/>
            </a:avLst>
          </a:prstGeom>
          <a:solidFill>
            <a:srgbClr val="B7F36B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347650" y="332232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已记录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6091047" y="3799999"/>
            <a:ext cx="801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当前演示版本</a:t>
            </a:r>
            <a:endParaRPr lang="zh-CN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081522" y="4016692"/>
            <a:ext cx="135836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v1.0.0</a:t>
            </a:r>
            <a:endParaRPr lang="en-US" sz="28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6090666" y="4630102"/>
            <a:ext cx="18833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版本说明从 Excel 工作簿读取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9419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 · 核心功能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问答交互体验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34400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快捷入口、运行状态、角色切换，构成一条顺滑的问答路径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12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95450"/>
            <a:ext cx="10972800" cy="3486150"/>
          </a:xfrm>
          <a:prstGeom prst="roundRect">
            <a:avLst>
              <a:gd name="adj" fmla="val 4918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90016" y="19440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能力入口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895350" y="234315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248346" y="24269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制度问答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2209800" y="234315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568892" y="2426970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数据库查询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3638550" y="23431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84688" y="24269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变更合规审查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895350" y="3028950"/>
            <a:ext cx="4324350" cy="514350"/>
          </a:xfrm>
          <a:prstGeom prst="roundRect">
            <a:avLst>
              <a:gd name="adj" fmla="val 33333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98804" y="3213735"/>
            <a:ext cx="25554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请检查 DC-021 的审批和公示情况</a:t>
            </a:r>
            <a:endParaRPr lang="zh-CN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5962650" y="2914650"/>
            <a:ext cx="4762500" cy="895350"/>
          </a:xfrm>
          <a:prstGeom prst="roundRect">
            <a:avLst>
              <a:gd name="adj" fmla="val 19149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204585" y="3098006"/>
            <a:ext cx="26058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运行中 · 正在关联审批记录与评审记录</a:t>
            </a:r>
            <a:endParaRPr lang="zh-CN" sz="112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205347" y="3438049"/>
            <a:ext cx="20283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0E3C3B"/>
                </a:solidFill>
                <a:latin typeface="微软雅黑"/>
                <a:ea typeface="微软雅黑"/>
                <a:cs typeface="微软雅黑"/>
              </a:rPr>
              <a:t>可暂停请求 · 重新回答 · 复制结果</a:t>
            </a:r>
            <a:endParaRPr lang="zh-CN" sz="980" dirty="0">
              <a:solidFill>
                <a:srgbClr val="0E3C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895350" y="4152900"/>
            <a:ext cx="9829800" cy="571500"/>
          </a:xfrm>
          <a:prstGeom prst="roundRect">
            <a:avLst>
              <a:gd name="adj" fmla="val 30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1028700" y="4286250"/>
            <a:ext cx="304800" cy="304800"/>
          </a:xfrm>
          <a:prstGeom prst="ellipse">
            <a:avLst/>
          </a:prstGeom>
          <a:noFill/>
          <a:ln w="19050">
            <a:solidFill>
              <a:srgbClr val="FF6B6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35897" y="4390549"/>
            <a:ext cx="904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sz="98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518285" y="4374356"/>
            <a:ext cx="24169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角色 A · K2025-001 · 点击可切换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830843" y="4390549"/>
            <a:ext cx="14611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重新开始会清空当前会话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2246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 · 系统内部逻辑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用户提问处理链路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6484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固定问题快答，复杂问题进入大模型意图分析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13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800100" y="2362200"/>
            <a:ext cx="1676400" cy="1104900"/>
          </a:xfrm>
          <a:prstGeom prst="roundRect">
            <a:avLst>
              <a:gd name="adj" fmla="val 13793"/>
            </a:avLst>
          </a:prstGeom>
          <a:solidFill>
            <a:srgbClr val="0E2234"/>
          </a:solidFill>
          <a:ln w="19050">
            <a:solidFill>
              <a:srgbClr val="65E4D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83742" y="25784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输入问题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85266" y="2934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自然语言</a:t>
            </a:r>
            <a:endParaRPr lang="zh-CN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llipse 40"/>
          <p:cNvSpPr/>
          <p:nvPr/>
        </p:nvSpPr>
        <p:spPr>
          <a:xfrm>
            <a:off x="2152650" y="2628900"/>
            <a:ext cx="190500" cy="190500"/>
          </a:xfrm>
          <a:prstGeom prst="ellipse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41" name="Line 41"/>
          <p:cNvSpPr/>
          <p:nvPr/>
        </p:nvSpPr>
        <p:spPr>
          <a:xfrm>
            <a:off x="2476500" y="2914650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250000" sp="300000"/>
            </a:custDash>
          </a:ln>
        </p:spPr>
      </p:sp>
      <p:sp>
        <p:nvSpPr>
          <p:cNvPr id="42" name="Rectangle 42"/>
          <p:cNvSpPr/>
          <p:nvPr/>
        </p:nvSpPr>
        <p:spPr>
          <a:xfrm>
            <a:off x="2990850" y="2362200"/>
            <a:ext cx="1676400" cy="1104900"/>
          </a:xfrm>
          <a:prstGeom prst="roundRect">
            <a:avLst>
              <a:gd name="adj" fmla="val 13793"/>
            </a:avLst>
          </a:prstGeom>
          <a:solidFill>
            <a:srgbClr val="0E2234"/>
          </a:solidFill>
          <a:ln w="19050">
            <a:solidFill>
              <a:srgbClr val="4BA3F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174492" y="25784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角色识别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176016" y="2934652"/>
            <a:ext cx="6301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A / B / C</a:t>
            </a:r>
            <a:endParaRPr lang="en-US" sz="10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llipse 45"/>
          <p:cNvSpPr/>
          <p:nvPr/>
        </p:nvSpPr>
        <p:spPr>
          <a:xfrm>
            <a:off x="4343400" y="2628900"/>
            <a:ext cx="190500" cy="190500"/>
          </a:xfrm>
          <a:prstGeom prst="ellipse">
            <a:avLst/>
          </a:prstGeom>
          <a:solidFill>
            <a:srgbClr val="4BA3FF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4667250" y="2914650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4BA3FF"/>
            </a:solidFill>
            <a:custDash>
              <a:ds d="250000" sp="300000"/>
            </a:custDash>
          </a:ln>
        </p:spPr>
      </p:sp>
      <p:sp>
        <p:nvSpPr>
          <p:cNvPr id="47" name="Rectangle 47"/>
          <p:cNvSpPr/>
          <p:nvPr/>
        </p:nvSpPr>
        <p:spPr>
          <a:xfrm>
            <a:off x="5181600" y="2362200"/>
            <a:ext cx="1676400" cy="1104900"/>
          </a:xfrm>
          <a:prstGeom prst="roundRect">
            <a:avLst>
              <a:gd name="adj" fmla="val 13793"/>
            </a:avLst>
          </a:prstGeom>
          <a:solidFill>
            <a:srgbClr val="0E2234"/>
          </a:solidFill>
          <a:ln w="19050">
            <a:solidFill>
              <a:srgbClr val="FFB45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365242" y="25784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范围判断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5366766" y="293465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是否属于系统能力</a:t>
            </a:r>
            <a:endParaRPr lang="zh-CN" sz="10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Ellipse 50"/>
          <p:cNvSpPr/>
          <p:nvPr/>
        </p:nvSpPr>
        <p:spPr>
          <a:xfrm>
            <a:off x="6534150" y="2628900"/>
            <a:ext cx="190500" cy="1905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</p:sp>
      <p:sp>
        <p:nvSpPr>
          <p:cNvPr id="51" name="Line 51"/>
          <p:cNvSpPr/>
          <p:nvPr/>
        </p:nvSpPr>
        <p:spPr>
          <a:xfrm>
            <a:off x="6858000" y="2914650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FFB454"/>
            </a:solidFill>
            <a:custDash>
              <a:ds d="250000" sp="300000"/>
            </a:custDash>
          </a:ln>
        </p:spPr>
      </p:sp>
      <p:sp>
        <p:nvSpPr>
          <p:cNvPr id="52" name="Rectangle 52"/>
          <p:cNvSpPr/>
          <p:nvPr/>
        </p:nvSpPr>
        <p:spPr>
          <a:xfrm>
            <a:off x="7372350" y="2362200"/>
            <a:ext cx="1676400" cy="1104900"/>
          </a:xfrm>
          <a:prstGeom prst="roundRect">
            <a:avLst>
              <a:gd name="adj" fmla="val 13793"/>
            </a:avLst>
          </a:prstGeom>
          <a:solidFill>
            <a:srgbClr val="0E2234"/>
          </a:solidFill>
          <a:ln w="19050">
            <a:solidFill>
              <a:srgbClr val="B7F36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55992" y="25784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能力路由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557516" y="293465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policy / database / audit</a:t>
            </a:r>
            <a:endParaRPr lang="en-US" sz="10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Ellipse 55"/>
          <p:cNvSpPr/>
          <p:nvPr/>
        </p:nvSpPr>
        <p:spPr>
          <a:xfrm>
            <a:off x="8724900" y="2628900"/>
            <a:ext cx="190500" cy="190500"/>
          </a:xfrm>
          <a:prstGeom prst="ellipse">
            <a:avLst/>
          </a:prstGeom>
          <a:solidFill>
            <a:srgbClr val="B7F36B"/>
          </a:solidFill>
          <a:ln>
            <a:noFill/>
          </a:ln>
        </p:spPr>
      </p:sp>
      <p:sp>
        <p:nvSpPr>
          <p:cNvPr id="56" name="Line 56"/>
          <p:cNvSpPr/>
          <p:nvPr/>
        </p:nvSpPr>
        <p:spPr>
          <a:xfrm>
            <a:off x="9048750" y="2914650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7F36B"/>
            </a:solidFill>
            <a:custDash>
              <a:ds d="250000" sp="300000"/>
            </a:custDash>
          </a:ln>
        </p:spPr>
      </p:sp>
      <p:sp>
        <p:nvSpPr>
          <p:cNvPr id="57" name="Rectangle 57"/>
          <p:cNvSpPr/>
          <p:nvPr/>
        </p:nvSpPr>
        <p:spPr>
          <a:xfrm>
            <a:off x="9563100" y="2362200"/>
            <a:ext cx="1676400" cy="1104900"/>
          </a:xfrm>
          <a:prstGeom prst="roundRect">
            <a:avLst>
              <a:gd name="adj" fmla="val 13793"/>
            </a:avLst>
          </a:prstGeom>
          <a:solidFill>
            <a:srgbClr val="0E2234"/>
          </a:solidFill>
          <a:ln w="19050">
            <a:solidFill>
              <a:srgbClr val="65E4D4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9746742" y="25784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回答整合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748266" y="29346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结构化输出</a:t>
            </a:r>
            <a:endParaRPr lang="zh-CN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Ellipse 60"/>
          <p:cNvSpPr/>
          <p:nvPr/>
        </p:nvSpPr>
        <p:spPr>
          <a:xfrm>
            <a:off x="10915650" y="2628900"/>
            <a:ext cx="190500" cy="190500"/>
          </a:xfrm>
          <a:prstGeom prst="ellipse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800100" y="4381500"/>
            <a:ext cx="9906000" cy="666750"/>
          </a:xfrm>
          <a:prstGeom prst="roundRect">
            <a:avLst>
              <a:gd name="adj" fmla="val 22857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21842" y="4645342"/>
            <a:ext cx="56852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固定问题：直接返回结构化答案 · 复杂问题：进入大模型意图分析流程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2246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 · 系统内部逻辑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能力路由与结果整合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36708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三条能力链，最终汇入同一个“结论—数据—依据—关注事项”回答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14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2000250"/>
            <a:ext cx="4286250" cy="723900"/>
          </a:xfrm>
          <a:prstGeom prst="roundRect">
            <a:avLst>
              <a:gd name="adj" fmla="val 18421"/>
            </a:avLst>
          </a:prstGeom>
          <a:solidFill>
            <a:srgbClr val="0E2234"/>
          </a:solidFill>
          <a:ln w="19050">
            <a:solidFill>
              <a:srgbClr val="65E4D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70966" y="2172652"/>
            <a:ext cx="5736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75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POLICY</a:t>
            </a:r>
            <a:endParaRPr lang="en-US" sz="1050" b="1" spc="75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9823" y="2396014"/>
            <a:ext cx="7498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RAG 检索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099816" y="24203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条款 / 页码 / 原文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4895850" y="2362200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0" y="0"/>
                </a:moveTo>
                <a:lnTo>
                  <a:pt x="196215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300000"/>
            </a:custDash>
          </a:ln>
        </p:spPr>
      </p:sp>
      <p:sp>
        <p:nvSpPr>
          <p:cNvPr id="42" name="Rectangle 42"/>
          <p:cNvSpPr/>
          <p:nvPr/>
        </p:nvSpPr>
        <p:spPr>
          <a:xfrm>
            <a:off x="609600" y="2990850"/>
            <a:ext cx="4286250" cy="723900"/>
          </a:xfrm>
          <a:prstGeom prst="roundRect">
            <a:avLst>
              <a:gd name="adj" fmla="val 18421"/>
            </a:avLst>
          </a:prstGeom>
          <a:solidFill>
            <a:srgbClr val="0E2234"/>
          </a:solidFill>
          <a:ln w="19050">
            <a:solidFill>
              <a:srgbClr val="4BA3F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70966" y="3163252"/>
            <a:ext cx="7753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75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DATABASE</a:t>
            </a:r>
            <a:endParaRPr lang="en-US" sz="1050" b="1" spc="75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69823" y="3386614"/>
            <a:ext cx="8738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Excel 查询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099816" y="3410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项目 / 变更 / 审批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4895850" y="3352800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0" y="0"/>
                </a:moveTo>
                <a:lnTo>
                  <a:pt x="1962150" y="0"/>
                </a:lnTo>
              </a:path>
            </a:pathLst>
          </a:custGeom>
          <a:noFill/>
          <a:ln w="19050">
            <a:solidFill>
              <a:srgbClr val="4BA3FF"/>
            </a:solidFill>
            <a:custDash>
              <a:ds d="300000" sp="300000"/>
            </a:custDash>
          </a:ln>
        </p:spPr>
      </p:sp>
      <p:sp>
        <p:nvSpPr>
          <p:cNvPr id="47" name="Rectangle 47"/>
          <p:cNvSpPr/>
          <p:nvPr/>
        </p:nvSpPr>
        <p:spPr>
          <a:xfrm>
            <a:off x="609600" y="3981450"/>
            <a:ext cx="4286250" cy="723900"/>
          </a:xfrm>
          <a:prstGeom prst="roundRect">
            <a:avLst>
              <a:gd name="adj" fmla="val 18421"/>
            </a:avLst>
          </a:prstGeom>
          <a:solidFill>
            <a:srgbClr val="0E2234"/>
          </a:solidFill>
          <a:ln w="19050">
            <a:solidFill>
              <a:srgbClr val="FFB45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70966" y="4153852"/>
            <a:ext cx="4453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75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AUDIT</a:t>
            </a:r>
            <a:endParaRPr lang="en-US" sz="1050" b="1" spc="75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69823" y="43772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规则引擎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3099816" y="44015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风险 / 缺口 / 状态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4895850" y="4343400"/>
            <a:ext cx="1962150" cy="9525"/>
          </a:xfrm>
          <a:custGeom>
            <a:avLst/>
            <a:gdLst/>
            <a:ahLst/>
            <a:cxnLst/>
            <a:rect l="l" t="t" r="r" b="b"/>
            <a:pathLst>
              <a:path w="1962150" h="9525">
                <a:moveTo>
                  <a:pt x="0" y="0"/>
                </a:moveTo>
                <a:lnTo>
                  <a:pt x="1962150" y="0"/>
                </a:lnTo>
              </a:path>
            </a:pathLst>
          </a:custGeom>
          <a:noFill/>
          <a:ln w="19050">
            <a:solidFill>
              <a:srgbClr val="FFB454"/>
            </a:solidFill>
            <a:custDash>
              <a:ds d="300000" sp="300000"/>
            </a:custDash>
          </a:ln>
        </p:spPr>
      </p:sp>
      <p:sp>
        <p:nvSpPr>
          <p:cNvPr id="52" name="Rectangle 52"/>
          <p:cNvSpPr/>
          <p:nvPr/>
        </p:nvSpPr>
        <p:spPr>
          <a:xfrm>
            <a:off x="7239000" y="1962150"/>
            <a:ext cx="4343400" cy="2933700"/>
          </a:xfrm>
          <a:prstGeom prst="roundRect">
            <a:avLst>
              <a:gd name="adj" fmla="val 5844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57135" y="222170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统一回答结构</a:t>
            </a:r>
            <a:endParaRPr lang="zh-CN" sz="112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555992" y="2654618"/>
            <a:ext cx="6443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01 结论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8686800" y="274320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7555992" y="3111818"/>
            <a:ext cx="6443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02 数据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Line 57"/>
          <p:cNvSpPr/>
          <p:nvPr/>
        </p:nvSpPr>
        <p:spPr>
          <a:xfrm>
            <a:off x="8686800" y="320040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7555992" y="3569018"/>
            <a:ext cx="6443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03 依据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Line 59"/>
          <p:cNvSpPr/>
          <p:nvPr/>
        </p:nvSpPr>
        <p:spPr>
          <a:xfrm>
            <a:off x="8686800" y="365760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555992" y="4026218"/>
            <a:ext cx="10078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04 关注事项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Line 61"/>
          <p:cNvSpPr/>
          <p:nvPr/>
        </p:nvSpPr>
        <p:spPr>
          <a:xfrm>
            <a:off x="8686800" y="411480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02742" y="5474018"/>
            <a:ext cx="54658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多能力同时命中时，模型只负责整合表达，事实仍来自确定性能力。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2246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 · 系统内部逻辑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审计规则执行逻辑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先过滤，再关联，最后按规则输出发现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15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70204" y="1870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当前角色可见数据</a:t>
            </a:r>
            <a:endParaRPr lang="zh-CN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289554" y="18707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按变更编号关联</a:t>
            </a:r>
            <a:endParaRPr lang="zh-CN" sz="120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918454" y="1870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规则引擎检查</a:t>
            </a:r>
            <a:endParaRPr lang="zh-CN" sz="120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061704" y="1870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审计发现</a:t>
            </a:r>
            <a:endParaRPr lang="zh-CN" sz="120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lipse 41"/>
          <p:cNvSpPr/>
          <p:nvPr/>
        </p:nvSpPr>
        <p:spPr>
          <a:xfrm>
            <a:off x="342900" y="2476500"/>
            <a:ext cx="1066800" cy="10668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39642" y="2898458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16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1485900" y="3009900"/>
            <a:ext cx="1200150" cy="9525"/>
          </a:xfrm>
          <a:custGeom>
            <a:avLst/>
            <a:gdLst/>
            <a:ahLst/>
            <a:cxnLst/>
            <a:rect l="l" t="t" r="r" b="b"/>
            <a:pathLst>
              <a:path w="1200150" h="952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44" name="Ellipse 44"/>
          <p:cNvSpPr/>
          <p:nvPr/>
        </p:nvSpPr>
        <p:spPr>
          <a:xfrm>
            <a:off x="2762250" y="2476500"/>
            <a:ext cx="1066800" cy="1066800"/>
          </a:xfrm>
          <a:prstGeom prst="ellipse">
            <a:avLst/>
          </a:prstGeom>
          <a:noFill/>
          <a:ln w="28575">
            <a:solidFill>
              <a:srgbClr val="4BA3F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3158992" y="2898458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6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3905250" y="3009900"/>
            <a:ext cx="1409700" cy="9525"/>
          </a:xfrm>
          <a:custGeom>
            <a:avLst/>
            <a:gdLst/>
            <a:ahLst/>
            <a:cxnLst/>
            <a:rect l="l" t="t" r="r" b="b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4BA3FF"/>
            </a:solidFill>
            <a:custDash>
              <a:ds d="300000" sp="400000"/>
            </a:custDash>
          </a:ln>
        </p:spPr>
      </p:sp>
      <p:sp>
        <p:nvSpPr>
          <p:cNvPr id="47" name="Ellipse 47"/>
          <p:cNvSpPr/>
          <p:nvPr/>
        </p:nvSpPr>
        <p:spPr>
          <a:xfrm>
            <a:off x="5391150" y="2476500"/>
            <a:ext cx="1066800" cy="1066800"/>
          </a:xfrm>
          <a:prstGeom prst="ellipse">
            <a:avLst/>
          </a:prstGeom>
          <a:noFill/>
          <a:ln w="28575">
            <a:solidFill>
              <a:srgbClr val="FFB45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787892" y="2898458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6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Line 49"/>
          <p:cNvSpPr/>
          <p:nvPr/>
        </p:nvSpPr>
        <p:spPr>
          <a:xfrm>
            <a:off x="6534150" y="3009900"/>
            <a:ext cx="1924050" cy="9525"/>
          </a:xfrm>
          <a:custGeom>
            <a:avLst/>
            <a:gdLst/>
            <a:ahLst/>
            <a:cxnLst/>
            <a:rect l="l" t="t" r="r" b="b"/>
            <a:pathLst>
              <a:path w="1924050" h="9525">
                <a:moveTo>
                  <a:pt x="0" y="0"/>
                </a:moveTo>
                <a:lnTo>
                  <a:pt x="1924050" y="0"/>
                </a:lnTo>
              </a:path>
            </a:pathLst>
          </a:custGeom>
          <a:noFill/>
          <a:ln w="19050">
            <a:solidFill>
              <a:srgbClr val="FFB454"/>
            </a:solidFill>
            <a:custDash>
              <a:ds d="300000" sp="400000"/>
            </a:custDash>
          </a:ln>
        </p:spPr>
      </p:sp>
      <p:sp>
        <p:nvSpPr>
          <p:cNvPr id="50" name="Ellipse 50"/>
          <p:cNvSpPr/>
          <p:nvPr/>
        </p:nvSpPr>
        <p:spPr>
          <a:xfrm>
            <a:off x="8534400" y="2476500"/>
            <a:ext cx="1066800" cy="1066800"/>
          </a:xfrm>
          <a:prstGeom prst="ellipse">
            <a:avLst/>
          </a:prstGeom>
          <a:noFill/>
          <a:ln w="28575">
            <a:solidFill>
              <a:srgbClr val="B7F36B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31142" y="2898458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6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03885" y="4164806"/>
            <a:ext cx="1433830" cy="448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项目 / 变更过滤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按角色范围缩小输入集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042285" y="4164806"/>
            <a:ext cx="1291590" cy="448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审批记录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技术委员会评审记录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5671185" y="4164806"/>
            <a:ext cx="2045462" cy="448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金额区间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公示状态 · 审批层级 · 评审状态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814435" y="4164806"/>
            <a:ext cx="1760982" cy="448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规则名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风险等级 · 变更编号 · 原因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876300" y="5314950"/>
            <a:ext cx="9525000" cy="476250"/>
          </a:xfrm>
          <a:prstGeom prst="roundRect">
            <a:avLst>
              <a:gd name="adj" fmla="val 28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98042" y="5474018"/>
            <a:ext cx="4221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每条发现都可回到“哪条规则、哪条变更、为什么”。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2246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 · 系统内部逻辑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异常处理与降级机制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3846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外部能力不可用时，核心演示仍保持可用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16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04266" y="186785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场景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756916" y="1867852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主路径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385816" y="18678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降级路径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376666" y="18678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用户提示</a:t>
            </a:r>
            <a:endParaRPr lang="zh-CN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609600" y="2190750"/>
            <a:ext cx="10363200" cy="590550"/>
          </a:xfrm>
          <a:prstGeom prst="roundRect">
            <a:avLst>
              <a:gd name="adj" fmla="val 19355"/>
            </a:avLst>
          </a:prstGeom>
          <a:solidFill>
            <a:srgbClr val="0E2234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03885" y="2355056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向量接口不可用</a:t>
            </a:r>
            <a:endParaRPr lang="zh-CN" sz="11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756916" y="23631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向量相似度检索</a:t>
            </a:r>
            <a:endParaRPr lang="zh-CN" sz="10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385816" y="23631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本地关键词检索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376666" y="236315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直接返回制度切片原文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llipse 46"/>
          <p:cNvSpPr/>
          <p:nvPr/>
        </p:nvSpPr>
        <p:spPr>
          <a:xfrm>
            <a:off x="11191875" y="2371725"/>
            <a:ext cx="95250" cy="95250"/>
          </a:xfrm>
          <a:prstGeom prst="ellipse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09600" y="3009900"/>
            <a:ext cx="10363200" cy="590550"/>
          </a:xfrm>
          <a:prstGeom prst="roundRect">
            <a:avLst>
              <a:gd name="adj" fmla="val 19355"/>
            </a:avLst>
          </a:prstGeom>
          <a:solidFill>
            <a:srgbClr val="0E2234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03885" y="3174206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天气接口不可用</a:t>
            </a:r>
            <a:endParaRPr lang="zh-CN" sz="11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2756916" y="3182302"/>
            <a:ext cx="1482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Open-Meteo + IP 定位</a:t>
            </a:r>
            <a:endParaRPr lang="zh-CN" sz="1050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385816" y="31823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静态默认天气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376666" y="31823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页面继续展示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Ellipse 52"/>
          <p:cNvSpPr/>
          <p:nvPr/>
        </p:nvSpPr>
        <p:spPr>
          <a:xfrm>
            <a:off x="11191875" y="3190875"/>
            <a:ext cx="95250" cy="95250"/>
          </a:xfrm>
          <a:prstGeom prst="ellipse">
            <a:avLst/>
          </a:prstGeom>
          <a:solidFill>
            <a:srgbClr val="4BA3FF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609600" y="3829050"/>
            <a:ext cx="10363200" cy="590550"/>
          </a:xfrm>
          <a:prstGeom prst="roundRect">
            <a:avLst>
              <a:gd name="adj" fmla="val 19355"/>
            </a:avLst>
          </a:prstGeom>
          <a:solidFill>
            <a:srgbClr val="0E2234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03885" y="3993356"/>
            <a:ext cx="13996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网络超时 / 数据不足</a:t>
            </a:r>
            <a:endParaRPr lang="zh-CN" sz="11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2756916" y="40014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模型整合回答</a:t>
            </a:r>
            <a:endParaRPr lang="zh-CN" sz="1050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5385816" y="40014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明确提示缺口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376666" y="40014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不把缺失当违规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Ellipse 58"/>
          <p:cNvSpPr/>
          <p:nvPr/>
        </p:nvSpPr>
        <p:spPr>
          <a:xfrm>
            <a:off x="11191875" y="4010025"/>
            <a:ext cx="95250" cy="9525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09600" y="53340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B7F36B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24522" y="54178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稳态演示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335911" y="5370671"/>
            <a:ext cx="405847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降级不是“隐藏错误”，而是把不确定性说清楚。</a:t>
            </a:r>
            <a:endParaRPr lang="zh-CN" sz="14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5073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05 · 技术架构与技术栈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总体技术架构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11972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轻量架构，清晰分层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17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1524000" y="1733550"/>
            <a:ext cx="9144000" cy="609600"/>
          </a:xfrm>
          <a:prstGeom prst="roundRect">
            <a:avLst>
              <a:gd name="adj" fmla="val 21875"/>
            </a:avLst>
          </a:prstGeom>
          <a:solidFill>
            <a:srgbClr val="0E2234"/>
          </a:solidFill>
          <a:ln w="19050">
            <a:solidFill>
              <a:srgbClr val="65E4D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840992" y="1844992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应用层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994023" y="1853089"/>
            <a:ext cx="22584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Streamlit · 会话状态 · 入口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118406" y="18773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6096000" y="23431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200000" sp="300000"/>
            </a:custDash>
          </a:ln>
        </p:spPr>
      </p:sp>
      <p:sp>
        <p:nvSpPr>
          <p:cNvPr id="42" name="Rectangle 42"/>
          <p:cNvSpPr/>
          <p:nvPr/>
        </p:nvSpPr>
        <p:spPr>
          <a:xfrm>
            <a:off x="1524000" y="2609850"/>
            <a:ext cx="9144000" cy="609600"/>
          </a:xfrm>
          <a:prstGeom prst="roundRect">
            <a:avLst>
              <a:gd name="adj" fmla="val 21875"/>
            </a:avLst>
          </a:prstGeom>
          <a:solidFill>
            <a:srgbClr val="0E2234"/>
          </a:solidFill>
          <a:ln w="19050">
            <a:solidFill>
              <a:srgbClr val="4BA3F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840992" y="2721292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前端层</a:t>
            </a:r>
            <a:endParaRPr lang="zh-CN" sz="13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994023" y="2729389"/>
            <a:ext cx="31645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HTML · CSS · JavaScript · Component</a:t>
            </a:r>
            <a:endParaRPr lang="en-US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118406" y="27536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6096000" y="32194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4BA3FF"/>
            </a:solidFill>
            <a:custDash>
              <a:ds d="200000" sp="300000"/>
            </a:custDash>
          </a:ln>
        </p:spPr>
      </p:sp>
      <p:sp>
        <p:nvSpPr>
          <p:cNvPr id="47" name="Rectangle 47"/>
          <p:cNvSpPr/>
          <p:nvPr/>
        </p:nvSpPr>
        <p:spPr>
          <a:xfrm>
            <a:off x="1524000" y="3486150"/>
            <a:ext cx="9144000" cy="609600"/>
          </a:xfrm>
          <a:prstGeom prst="roundRect">
            <a:avLst>
              <a:gd name="adj" fmla="val 21875"/>
            </a:avLst>
          </a:prstGeom>
          <a:solidFill>
            <a:srgbClr val="0E2234"/>
          </a:solidFill>
          <a:ln w="19050">
            <a:solidFill>
              <a:srgbClr val="B7F36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840992" y="3597592"/>
            <a:ext cx="7861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Agent 层</a:t>
            </a:r>
            <a:endParaRPr lang="zh-CN" sz="13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994023" y="3605689"/>
            <a:ext cx="19859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权限 · 路由 · 查询 · 审计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118406" y="36299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6096000" y="40957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B7F36B"/>
            </a:solidFill>
            <a:custDash>
              <a:ds d="200000" sp="300000"/>
            </a:custDash>
          </a:ln>
        </p:spPr>
      </p:sp>
      <p:sp>
        <p:nvSpPr>
          <p:cNvPr id="52" name="Rectangle 52"/>
          <p:cNvSpPr/>
          <p:nvPr/>
        </p:nvSpPr>
        <p:spPr>
          <a:xfrm>
            <a:off x="1524000" y="4362450"/>
            <a:ext cx="9144000" cy="609600"/>
          </a:xfrm>
          <a:prstGeom prst="roundRect">
            <a:avLst>
              <a:gd name="adj" fmla="val 21875"/>
            </a:avLst>
          </a:prstGeom>
          <a:solidFill>
            <a:srgbClr val="0E2234"/>
          </a:solidFill>
          <a:ln w="19050">
            <a:solidFill>
              <a:srgbClr val="FFB45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840992" y="447389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知识与数据层</a:t>
            </a:r>
            <a:endParaRPr lang="zh-CN" sz="13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94023" y="4481989"/>
            <a:ext cx="20335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RAG JSON · Excel 数据源</a:t>
            </a:r>
            <a:endParaRPr lang="zh-CN" sz="128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118406" y="4506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05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02361" y="5656421"/>
            <a:ext cx="57492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每一层都有明确职责：页面承载、交互呈现、智能判断、事实来源。</a:t>
            </a:r>
            <a:endParaRPr lang="zh-CN" sz="14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5073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05 · 技术架构与技术栈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53733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主要技术栈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17447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成熟组件 + 可替换的模型能力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18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714500"/>
            <a:ext cx="3238500" cy="1028700"/>
          </a:xfrm>
          <a:prstGeom prst="roundRect">
            <a:avLst>
              <a:gd name="adj" fmla="val 1481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32866" y="1905952"/>
            <a:ext cx="7824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9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PYTHON 3</a:t>
            </a:r>
            <a:endParaRPr lang="en-US" sz="1050" b="1" spc="9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31723" y="2262664"/>
            <a:ext cx="19259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Streamlit / OpenPyXL</a:t>
            </a:r>
            <a:endParaRPr lang="en-US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838200" y="2552700"/>
            <a:ext cx="2781300" cy="9525"/>
          </a:xfrm>
          <a:custGeom>
            <a:avLst/>
            <a:gdLst/>
            <a:ahLst/>
            <a:cxnLst/>
            <a:rect l="l" t="t" r="r" b="b"/>
            <a:pathLst>
              <a:path w="2781300" h="9525">
                <a:moveTo>
                  <a:pt x="0" y="0"/>
                </a:moveTo>
                <a:lnTo>
                  <a:pt x="2781300" y="0"/>
                </a:lnTo>
              </a:path>
            </a:pathLst>
          </a:custGeom>
          <a:noFill/>
          <a:ln w="19050">
            <a:solidFill>
              <a:srgbClr val="65E4D4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4324350" y="1714500"/>
            <a:ext cx="3238500" cy="1028700"/>
          </a:xfrm>
          <a:prstGeom prst="roundRect">
            <a:avLst>
              <a:gd name="adj" fmla="val 1481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547616" y="1905952"/>
            <a:ext cx="8216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90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FRONTEND</a:t>
            </a:r>
            <a:endParaRPr lang="en-US" sz="1050" b="1" spc="90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546473" y="2262664"/>
            <a:ext cx="217462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HTML / CSS / JavaScript</a:t>
            </a:r>
            <a:endParaRPr lang="en-US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4552950" y="2552700"/>
            <a:ext cx="2781300" cy="9525"/>
          </a:xfrm>
          <a:custGeom>
            <a:avLst/>
            <a:gdLst/>
            <a:ahLst/>
            <a:cxnLst/>
            <a:rect l="l" t="t" r="r" b="b"/>
            <a:pathLst>
              <a:path w="2781300" h="9525">
                <a:moveTo>
                  <a:pt x="0" y="0"/>
                </a:moveTo>
                <a:lnTo>
                  <a:pt x="2781300" y="0"/>
                </a:lnTo>
              </a:path>
            </a:pathLst>
          </a:custGeom>
          <a:noFill/>
          <a:ln w="19050">
            <a:solidFill>
              <a:srgbClr val="4BA3FF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8039100" y="1714500"/>
            <a:ext cx="3238500" cy="1028700"/>
          </a:xfrm>
          <a:prstGeom prst="roundRect">
            <a:avLst>
              <a:gd name="adj" fmla="val 1481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8262366" y="1905952"/>
            <a:ext cx="8814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90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EMBEDDING</a:t>
            </a:r>
            <a:endParaRPr lang="en-US" sz="1050" b="1" spc="90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261223" y="2262664"/>
            <a:ext cx="26584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DashScope text-embedding-v3</a:t>
            </a:r>
            <a:endParaRPr lang="en-US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8267700" y="2552700"/>
            <a:ext cx="2781300" cy="9525"/>
          </a:xfrm>
          <a:custGeom>
            <a:avLst/>
            <a:gdLst/>
            <a:ahLst/>
            <a:cxnLst/>
            <a:rect l="l" t="t" r="r" b="b"/>
            <a:pathLst>
              <a:path w="2781300" h="9525">
                <a:moveTo>
                  <a:pt x="0" y="0"/>
                </a:moveTo>
                <a:lnTo>
                  <a:pt x="2781300" y="0"/>
                </a:lnTo>
              </a:path>
            </a:pathLst>
          </a:custGeom>
          <a:noFill/>
          <a:ln w="19050">
            <a:solidFill>
              <a:srgbClr val="B7F36B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09600" y="3143250"/>
            <a:ext cx="3238500" cy="1028700"/>
          </a:xfrm>
          <a:prstGeom prst="roundRect">
            <a:avLst>
              <a:gd name="adj" fmla="val 1481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32866" y="3334702"/>
            <a:ext cx="3263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90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LLM</a:t>
            </a:r>
            <a:endParaRPr lang="en-US" sz="1050" b="1" spc="90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31723" y="3691414"/>
            <a:ext cx="27981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Qwen-plus · OpenAI-compatible</a:t>
            </a:r>
            <a:endParaRPr lang="en-US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Line 52"/>
          <p:cNvSpPr/>
          <p:nvPr/>
        </p:nvSpPr>
        <p:spPr>
          <a:xfrm>
            <a:off x="838200" y="3981450"/>
            <a:ext cx="2781300" cy="9525"/>
          </a:xfrm>
          <a:custGeom>
            <a:avLst/>
            <a:gdLst/>
            <a:ahLst/>
            <a:cxnLst/>
            <a:rect l="l" t="t" r="r" b="b"/>
            <a:pathLst>
              <a:path w="2781300" h="9525">
                <a:moveTo>
                  <a:pt x="0" y="0"/>
                </a:moveTo>
                <a:lnTo>
                  <a:pt x="2781300" y="0"/>
                </a:lnTo>
              </a:path>
            </a:pathLst>
          </a:custGeom>
          <a:noFill/>
          <a:ln w="19050">
            <a:solidFill>
              <a:srgbClr val="FFB454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4324350" y="3143250"/>
            <a:ext cx="3238500" cy="1028700"/>
          </a:xfrm>
          <a:prstGeom prst="roundRect">
            <a:avLst>
              <a:gd name="adj" fmla="val 1481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547616" y="3334702"/>
            <a:ext cx="4539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9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INDEX</a:t>
            </a:r>
            <a:endParaRPr lang="en-US" sz="1050" b="1" spc="9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4546473" y="3691414"/>
            <a:ext cx="167508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JSON vector_index</a:t>
            </a:r>
            <a:endParaRPr lang="en-US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Line 56"/>
          <p:cNvSpPr/>
          <p:nvPr/>
        </p:nvSpPr>
        <p:spPr>
          <a:xfrm>
            <a:off x="4552950" y="3981450"/>
            <a:ext cx="2781300" cy="9525"/>
          </a:xfrm>
          <a:custGeom>
            <a:avLst/>
            <a:gdLst/>
            <a:ahLst/>
            <a:cxnLst/>
            <a:rect l="l" t="t" r="r" b="b"/>
            <a:pathLst>
              <a:path w="2781300" h="9525">
                <a:moveTo>
                  <a:pt x="0" y="0"/>
                </a:moveTo>
                <a:lnTo>
                  <a:pt x="2781300" y="0"/>
                </a:lnTo>
              </a:path>
            </a:pathLst>
          </a:custGeom>
          <a:noFill/>
          <a:ln w="19050">
            <a:solidFill>
              <a:srgbClr val="65E4D4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8039100" y="3143250"/>
            <a:ext cx="3238500" cy="1028700"/>
          </a:xfrm>
          <a:prstGeom prst="roundRect">
            <a:avLst>
              <a:gd name="adj" fmla="val 1481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8262366" y="3334702"/>
            <a:ext cx="7225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90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WEATHER</a:t>
            </a:r>
            <a:endParaRPr lang="en-US" sz="1050" b="1" spc="90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261223" y="3691414"/>
            <a:ext cx="18788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Open-Meteo + IP 定位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Line 60"/>
          <p:cNvSpPr/>
          <p:nvPr/>
        </p:nvSpPr>
        <p:spPr>
          <a:xfrm>
            <a:off x="8267700" y="3981450"/>
            <a:ext cx="2781300" cy="9525"/>
          </a:xfrm>
          <a:custGeom>
            <a:avLst/>
            <a:gdLst/>
            <a:ahLst/>
            <a:cxnLst/>
            <a:rect l="l" t="t" r="r" b="b"/>
            <a:pathLst>
              <a:path w="2781300" h="9525">
                <a:moveTo>
                  <a:pt x="0" y="0"/>
                </a:moveTo>
                <a:lnTo>
                  <a:pt x="2781300" y="0"/>
                </a:lnTo>
              </a:path>
            </a:pathLst>
          </a:custGeom>
          <a:noFill/>
          <a:ln w="19050">
            <a:solidFill>
              <a:srgbClr val="4BA3FF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02361" y="5751671"/>
            <a:ext cx="53965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核心原则：大模型负责理解与表达，规则和数据负责“定事实”。</a:t>
            </a:r>
            <a:endParaRPr lang="zh-CN" sz="14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5073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05 · 技术架构与技术栈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代码模块划分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1207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按职责拆开，便于替换、调试和扩展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19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7145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13435" y="1840706"/>
            <a:ext cx="13570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streamlit_app.py</a:t>
            </a:r>
            <a:endParaRPr lang="en-US" sz="11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13816" y="2058352"/>
            <a:ext cx="16291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入口 / 状态 / 文件 / 反馈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6134100" y="17145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337935" y="1840706"/>
            <a:ext cx="12779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agents/roles.py</a:t>
            </a:r>
            <a:endParaRPr lang="en-US" sz="112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338316" y="20583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角色权限过滤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609600" y="25527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13435" y="2678906"/>
            <a:ext cx="21486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agents/interface_agent.py</a:t>
            </a:r>
            <a:endParaRPr lang="en-US" sz="112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13816" y="2896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问题识别 / 能力路由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6134100" y="25527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337935" y="2678906"/>
            <a:ext cx="18003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agents/audit_agent.py</a:t>
            </a:r>
            <a:endParaRPr lang="en-US" sz="112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338316" y="28965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审计执行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609600" y="33909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13435" y="3517106"/>
            <a:ext cx="17607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agents/audit_rules.py</a:t>
            </a:r>
            <a:endParaRPr lang="en-US" sz="112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13816" y="37347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规则集合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6134100" y="33909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37935" y="3517106"/>
            <a:ext cx="17702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RAG/vector_search.py</a:t>
            </a:r>
            <a:endParaRPr lang="en-US" sz="11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6338316" y="37347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向量检索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609600" y="42291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13435" y="4355306"/>
            <a:ext cx="15096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RAG/vector_ask.py</a:t>
            </a:r>
            <a:endParaRPr lang="en-US" sz="112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13816" y="45729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制度问答 / 模型整合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6134100" y="4229100"/>
            <a:ext cx="5143500" cy="571500"/>
          </a:xfrm>
          <a:prstGeom prst="roundRect">
            <a:avLst>
              <a:gd name="adj" fmla="val 20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6337935" y="4355306"/>
            <a:ext cx="7950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frontend/</a:t>
            </a:r>
            <a:endParaRPr lang="en-US" sz="112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6338316" y="4572952"/>
            <a:ext cx="14665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页面结构 / 样式 / 交互</a:t>
            </a:r>
            <a:endParaRPr lang="zh-CN" sz="10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27177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06 · GITHUB 与 STREAMLIT 在线部署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34283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GitHub 仓库组织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2526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代码、数据、资源分层；密钥永不入库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20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95450"/>
            <a:ext cx="4857750" cy="3429000"/>
          </a:xfrm>
          <a:prstGeom prst="roundRect">
            <a:avLst>
              <a:gd name="adj" fmla="val 5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89635" y="19550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仓库结构</a:t>
            </a:r>
            <a:endParaRPr lang="zh-CN" sz="11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84885" y="239315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├─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08354" y="2385060"/>
            <a:ext cx="13853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streamlit_app.py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84885" y="27170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├─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08354" y="2708910"/>
            <a:ext cx="14257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requirements.txt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84885" y="304085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├─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308354" y="30327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agents/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84885" y="33647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├─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308354" y="3356610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RAG/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84885" y="368855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├─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08354" y="3680460"/>
            <a:ext cx="8118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frontend/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84885" y="40124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├─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308354" y="4004310"/>
            <a:ext cx="8174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Database/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84885" y="433625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└─</a:t>
            </a:r>
            <a:endParaRPr lang="en-US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308354" y="43281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reference_files/</a:t>
            </a:r>
            <a:endParaRPr lang="en-US" sz="120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5905500" y="1695450"/>
            <a:ext cx="5676900" cy="3429000"/>
          </a:xfrm>
          <a:prstGeom prst="roundRect">
            <a:avLst>
              <a:gd name="adj" fmla="val 5000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185535" y="195500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安全边界</a:t>
            </a:r>
            <a:endParaRPr lang="zh-CN" sz="112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185154" y="2480310"/>
            <a:ext cx="8912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✅ API 密钥</a:t>
            </a:r>
            <a:endParaRPr lang="zh-CN" sz="120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185535" y="2774156"/>
            <a:ext cx="20557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仅在部署平台 Secrets 中配置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185154" y="3375660"/>
            <a:ext cx="8788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✅ 公开仓库</a:t>
            </a:r>
            <a:endParaRPr lang="zh-CN" sz="120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185535" y="3669506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代码可见，密钥不可见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185154" y="4271010"/>
            <a:ext cx="8788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⚠ 本地文件</a:t>
            </a:r>
            <a:endParaRPr lang="zh-CN" sz="120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6185535" y="456485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适合演示，不适合作为长期数据库</a:t>
            </a:r>
            <a:endParaRPr lang="zh-CN" sz="112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27177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06 · GITHUB 与 STREAMLIT 在线部署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372897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Streamlit Cloud 部署流程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1603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关联仓库 → 自动构建 → 获得在线地址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21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lipse 37"/>
          <p:cNvSpPr/>
          <p:nvPr/>
        </p:nvSpPr>
        <p:spPr>
          <a:xfrm>
            <a:off x="628650" y="238125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65536" y="26679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69011" y="3294221"/>
            <a:ext cx="10891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关联 GitHub</a:t>
            </a:r>
            <a:endParaRPr lang="zh-CN" sz="14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0916" y="365855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选择仓库与主分支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1352550" y="2705100"/>
            <a:ext cx="1885950" cy="9525"/>
          </a:xfrm>
          <a:custGeom>
            <a:avLst/>
            <a:gdLst/>
            <a:ahLst/>
            <a:cxnLst/>
            <a:rect l="l" t="t" r="r" b="b"/>
            <a:pathLst>
              <a:path w="1885950" h="952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42" name="Ellipse 42"/>
          <p:cNvSpPr/>
          <p:nvPr/>
        </p:nvSpPr>
        <p:spPr>
          <a:xfrm>
            <a:off x="3314700" y="238125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551586" y="26679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155061" y="32942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指定入口</a:t>
            </a:r>
            <a:endParaRPr lang="zh-CN" sz="14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156966" y="3658552"/>
            <a:ext cx="12121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streamlit_app.py</a:t>
            </a:r>
            <a:endParaRPr lang="en-US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4038600" y="2705100"/>
            <a:ext cx="1885950" cy="9525"/>
          </a:xfrm>
          <a:custGeom>
            <a:avLst/>
            <a:gdLst/>
            <a:ahLst/>
            <a:cxnLst/>
            <a:rect l="l" t="t" r="r" b="b"/>
            <a:pathLst>
              <a:path w="1885950" h="952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47" name="Ellipse 47"/>
          <p:cNvSpPr/>
          <p:nvPr/>
        </p:nvSpPr>
        <p:spPr>
          <a:xfrm>
            <a:off x="6000750" y="238125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237636" y="26679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5841111" y="32942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安装依赖</a:t>
            </a:r>
            <a:endParaRPr lang="zh-CN" sz="14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843016" y="3658552"/>
            <a:ext cx="18552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requirements.txt 自动安装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6724650" y="2705100"/>
            <a:ext cx="1885950" cy="9525"/>
          </a:xfrm>
          <a:custGeom>
            <a:avLst/>
            <a:gdLst/>
            <a:ahLst/>
            <a:cxnLst/>
            <a:rect l="l" t="t" r="r" b="b"/>
            <a:pathLst>
              <a:path w="1885950" h="952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52" name="Ellipse 52"/>
          <p:cNvSpPr/>
          <p:nvPr/>
        </p:nvSpPr>
        <p:spPr>
          <a:xfrm>
            <a:off x="8686800" y="2381250"/>
            <a:ext cx="647700" cy="6477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923686" y="26679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527161" y="32942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发布访问</a:t>
            </a:r>
            <a:endParaRPr lang="zh-CN" sz="142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529066" y="3658552"/>
            <a:ext cx="899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生成在线 URL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952500" y="4762500"/>
            <a:ext cx="9525000" cy="704850"/>
          </a:xfrm>
          <a:prstGeom prst="roundRect">
            <a:avLst>
              <a:gd name="adj" fmla="val 21622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231392" y="5035868"/>
            <a:ext cx="56479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后续只需推送代码到 GitHub，Streamlit Cloud 即可自动重新部署。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27177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06 · GITHUB 与 STREAMLIT 在线部署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在线部署配置要点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8195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让 Demo 能稳定运行，也让生产化边界清晰可见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22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790700"/>
            <a:ext cx="3238500" cy="2476500"/>
          </a:xfrm>
          <a:prstGeom prst="roundRect">
            <a:avLst>
              <a:gd name="adj" fmla="val 6923"/>
            </a:avLst>
          </a:prstGeom>
          <a:solidFill>
            <a:srgbClr val="0E2234"/>
          </a:solidFill>
          <a:ln w="19050">
            <a:solidFill>
              <a:srgbClr val="FFB45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69442" y="2045018"/>
            <a:ext cx="754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Secrets</a:t>
            </a:r>
            <a:endParaRPr lang="en-US" sz="13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9442" y="2578418"/>
            <a:ext cx="18888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DASHSCOPE_API_KEY</a:t>
            </a:r>
            <a:endParaRPr lang="en-US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70585" y="3117056"/>
            <a:ext cx="22077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平台 Secrets 配置，不写入代码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876300" y="38290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66050" y="39128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配置项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4267200" y="1790700"/>
            <a:ext cx="3238500" cy="2476500"/>
          </a:xfrm>
          <a:prstGeom prst="roundRect">
            <a:avLst>
              <a:gd name="adj" fmla="val 6923"/>
            </a:avLst>
          </a:prstGeom>
          <a:solidFill>
            <a:srgbClr val="0E2234"/>
          </a:solidFill>
          <a:ln w="19050">
            <a:solidFill>
              <a:srgbClr val="4BA3FF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527042" y="2045018"/>
            <a:ext cx="5444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Paths</a:t>
            </a:r>
            <a:endParaRPr lang="en-US" sz="13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527042" y="2578418"/>
            <a:ext cx="28237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PDF / Excel / JSON / frontend</a:t>
            </a:r>
            <a:endParaRPr lang="en-US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528185" y="311705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确认仓库路径完整、大小写一致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4533900" y="38290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823650" y="39128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配置项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7924800" y="1790700"/>
            <a:ext cx="3238500" cy="2476500"/>
          </a:xfrm>
          <a:prstGeom prst="roundRect">
            <a:avLst>
              <a:gd name="adj" fmla="val 6923"/>
            </a:avLst>
          </a:prstGeom>
          <a:solidFill>
            <a:srgbClr val="0E2234"/>
          </a:solidFill>
          <a:ln w="19050">
            <a:solidFill>
              <a:srgbClr val="B7F36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184642" y="2045018"/>
            <a:ext cx="8592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Feedback</a:t>
            </a:r>
            <a:endParaRPr lang="en-US" sz="13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184642" y="25784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本地工作簿</a:t>
            </a:r>
            <a:endParaRPr lang="zh-CN" sz="13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185785" y="3117056"/>
            <a:ext cx="1149350" cy="4581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演示可用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生产建议云数据库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8191500" y="382905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B7F36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481250" y="39128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配置项</a:t>
            </a:r>
            <a:endParaRPr lang="zh-CN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609600" y="4762500"/>
            <a:ext cx="10477500" cy="590550"/>
          </a:xfrm>
          <a:prstGeom prst="roundRect">
            <a:avLst>
              <a:gd name="adj" fmla="val 22581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69442" y="4978718"/>
            <a:ext cx="55412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生产化迁移建议：反馈、审计记录和业务数据 → 云数据库 / 对象存储</a:t>
            </a:r>
            <a:endParaRPr lang="zh-CN" sz="13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6486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07 · 项目特点与应用价值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4296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Demo 的主要特点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96508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不是聊天机器人，而是“模型 + 数据 + 规则”的组合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23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llipse 37"/>
          <p:cNvSpPr/>
          <p:nvPr/>
        </p:nvSpPr>
        <p:spPr>
          <a:xfrm>
            <a:off x="762000" y="2209800"/>
            <a:ext cx="723900" cy="723900"/>
          </a:xfrm>
          <a:prstGeom prst="ellipse">
            <a:avLst/>
          </a:prstGeom>
          <a:noFill/>
          <a:ln w="28575">
            <a:solidFill>
              <a:srgbClr val="FF6B6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36986" y="25441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10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03123" y="33104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权限可控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04266" y="36776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角色范围后端过滤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llipse 41"/>
          <p:cNvSpPr/>
          <p:nvPr/>
        </p:nvSpPr>
        <p:spPr>
          <a:xfrm>
            <a:off x="2952750" y="2209800"/>
            <a:ext cx="723900" cy="723900"/>
          </a:xfrm>
          <a:prstGeom prst="ellipse">
            <a:avLst/>
          </a:prstGeom>
          <a:noFill/>
          <a:ln w="28575">
            <a:solidFill>
              <a:srgbClr val="65E4D4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227736" y="25441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10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793873" y="33104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制度可追溯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795016" y="3677602"/>
            <a:ext cx="544068" cy="4339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条款编号</a:t>
            </a:r>
            <a:b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页码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llipse 45"/>
          <p:cNvSpPr/>
          <p:nvPr/>
        </p:nvSpPr>
        <p:spPr>
          <a:xfrm>
            <a:off x="5143500" y="2209800"/>
            <a:ext cx="723900" cy="723900"/>
          </a:xfrm>
          <a:prstGeom prst="ellipse">
            <a:avLst/>
          </a:prstGeom>
          <a:noFill/>
          <a:ln w="28575">
            <a:solidFill>
              <a:srgbClr val="4BA3FF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418486" y="25441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10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984623" y="33104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数据可核验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985766" y="36776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多表关联与汇总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llipse 49"/>
          <p:cNvSpPr/>
          <p:nvPr/>
        </p:nvSpPr>
        <p:spPr>
          <a:xfrm>
            <a:off x="7334250" y="2209800"/>
            <a:ext cx="723900" cy="723900"/>
          </a:xfrm>
          <a:prstGeom prst="ellipse">
            <a:avLst/>
          </a:prstGeom>
          <a:noFill/>
          <a:ln w="28575">
            <a:solidFill>
              <a:srgbClr val="FFB45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609236" y="25441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10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175373" y="33104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审计可解释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176516" y="3677602"/>
            <a:ext cx="544068" cy="4339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规则名称</a:t>
            </a:r>
            <a:b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具体原因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Ellipse 53"/>
          <p:cNvSpPr/>
          <p:nvPr/>
        </p:nvSpPr>
        <p:spPr>
          <a:xfrm>
            <a:off x="9525000" y="2209800"/>
            <a:ext cx="723900" cy="723900"/>
          </a:xfrm>
          <a:prstGeom prst="ellipse">
            <a:avLst/>
          </a:prstGeom>
          <a:noFill/>
          <a:ln w="28575">
            <a:solidFill>
              <a:srgbClr val="B7F36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799986" y="25441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B7F36B"/>
                </a:solidFill>
                <a:latin typeface="微软雅黑"/>
                <a:ea typeface="微软雅黑"/>
                <a:cs typeface="微软雅黑"/>
              </a:rPr>
              <a:t>05</a:t>
            </a:r>
            <a:endParaRPr lang="en-US" sz="1050" b="1" dirty="0">
              <a:solidFill>
                <a:srgbClr val="B7F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9366123" y="3310414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交互易上手</a:t>
            </a:r>
            <a:endParaRPr lang="zh-CN" sz="128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367266" y="3677602"/>
            <a:ext cx="544068" cy="4339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快捷入口</a:t>
            </a:r>
            <a:b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05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角色切换</a:t>
            </a:r>
            <a:endParaRPr lang="zh-CN" sz="105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609600" y="4895850"/>
            <a:ext cx="10363200" cy="552450"/>
          </a:xfrm>
          <a:prstGeom prst="roundRect">
            <a:avLst>
              <a:gd name="adj" fmla="val 24138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869061" y="5084921"/>
            <a:ext cx="520543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减少模型自由发挥带来的事实错误，让每个结论都有“落点”。</a:t>
            </a:r>
            <a:endParaRPr lang="zh-CN" sz="142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6486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07 · 项目特点与应用价值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演示效果与业务价值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30442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在一套可控数据上，快速回答、快速发现、快速复核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24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09600" y="1695450"/>
            <a:ext cx="3143250" cy="3238500"/>
          </a:xfrm>
          <a:prstGeom prst="roundRect">
            <a:avLst>
              <a:gd name="adj" fmla="val 5455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08685" y="197405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全量数据审计结果</a:t>
            </a:r>
            <a:endParaRPr lang="zh-CN" sz="112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95350" y="2446020"/>
            <a:ext cx="877725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15</a:t>
            </a:r>
            <a:endParaRPr lang="en-US" sz="540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07542" y="32261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条审计关注结果</a:t>
            </a:r>
            <a:endParaRPr lang="zh-CN" sz="1350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914400" y="367665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08304" y="3966210"/>
            <a:ext cx="19321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覆盖 8 个项目 · 40 条变更</a:t>
            </a:r>
            <a:endParaRPr lang="zh-CN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4286250" y="1695450"/>
            <a:ext cx="7296150" cy="3238500"/>
          </a:xfrm>
          <a:prstGeom prst="roundRect">
            <a:avLst>
              <a:gd name="adj" fmla="val 5294"/>
            </a:avLst>
          </a:prstGeom>
          <a:solidFill>
            <a:srgbClr val="0E2234"/>
          </a:solidFill>
          <a:ln w="9525">
            <a:solidFill>
              <a:srgbClr val="17384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585335" y="1974056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典型问题分布</a:t>
            </a:r>
            <a:endParaRPr lang="zh-CN" sz="112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584954" y="26517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审批不足</a:t>
            </a:r>
            <a:endParaRPr lang="zh-CN" sz="12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5905500" y="2590800"/>
            <a:ext cx="4000500" cy="228600"/>
          </a:xfrm>
          <a:prstGeom prst="roundRect">
            <a:avLst>
              <a:gd name="adj" fmla="val 50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5905500" y="2590800"/>
            <a:ext cx="3600450" cy="228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022789" y="26355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b="1" dirty="0">
                <a:solidFill>
                  <a:srgbClr val="FF6B6B"/>
                </a:solidFill>
                <a:latin typeface="微软雅黑"/>
                <a:ea typeface="微软雅黑"/>
                <a:cs typeface="微软雅黑"/>
              </a:rPr>
              <a:t>9</a:t>
            </a:r>
            <a:endParaRPr lang="en-US" sz="1350" b="1" dirty="0">
              <a:solidFill>
                <a:srgbClr val="FF6B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584954" y="33375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公示缺失</a:t>
            </a:r>
            <a:endParaRPr lang="zh-CN" sz="12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5905500" y="3276600"/>
            <a:ext cx="4000500" cy="228600"/>
          </a:xfrm>
          <a:prstGeom prst="roundRect">
            <a:avLst>
              <a:gd name="adj" fmla="val 50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5905500" y="3276600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022789" y="33213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b="1" dirty="0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4</a:t>
            </a:r>
            <a:endParaRPr lang="en-US" sz="1350" b="1" dirty="0">
              <a:solidFill>
                <a:srgbClr val="FFB4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584954" y="40233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评审异常</a:t>
            </a:r>
            <a:endParaRPr lang="zh-CN" sz="12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5905500" y="3962400"/>
            <a:ext cx="4000500" cy="228600"/>
          </a:xfrm>
          <a:prstGeom prst="roundRect">
            <a:avLst>
              <a:gd name="adj" fmla="val 50000"/>
            </a:avLst>
          </a:prstGeom>
          <a:solidFill>
            <a:srgbClr val="102B40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5905500" y="3962400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022789" y="40071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b="1" dirty="0">
                <a:solidFill>
                  <a:srgbClr val="4BA3FF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1350" b="1" dirty="0">
              <a:solidFill>
                <a:srgbClr val="4BA3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01980" y="5648325"/>
            <a:ext cx="51260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业务价值：把排查从“事后翻资料”前移到“问答即核验”。</a:t>
            </a:r>
            <a:endParaRPr lang="zh-CN" sz="15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" name="Line 3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4" name="Line 4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5" name="Line 5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7" name="Line 7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8" name="Line 8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9" name="Line 9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1" name="Line 11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3" name="Line 13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4" name="Line 14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5" name="Line 15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19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19" name="Line 19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0" name="Line 20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1" name="Line 21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2" name="Line 22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3" name="Line 23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4" name="Line 24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5" name="Line 2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6" name="Line 26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5E4D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4838" y="302895"/>
            <a:ext cx="16486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150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07 · 项目特点与应用价值</a:t>
            </a:r>
            <a:endParaRPr lang="zh-CN" sz="900" b="1" spc="150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98170" y="557212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后续扩展方向</a:t>
            </a:r>
            <a:endParaRPr lang="zh-CN" sz="22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4647" y="961549"/>
            <a:ext cx="25515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从可演示的 Agent，走向真实工程管理助手</a:t>
            </a:r>
            <a:endParaRPr lang="zh-CN" sz="98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332571" y="2705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25</a:t>
            </a:r>
            <a:endParaRPr lang="en-US" sz="120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609600" y="1295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1738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483191"/>
            <a:ext cx="25461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· ENGINEERING INTELLIGENCE DEMO</a:t>
            </a:r>
            <a:endParaRPr lang="en-US" sz="820" b="1" spc="112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475691" y="6483191"/>
            <a:ext cx="11114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2026 / DEMO v1.0.0</a:t>
            </a:r>
            <a:endParaRPr lang="en-US" sz="8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838200" y="1981200"/>
            <a:ext cx="3048000" cy="2190750"/>
          </a:xfrm>
          <a:prstGeom prst="roundRect">
            <a:avLst>
              <a:gd name="adj" fmla="val 7826"/>
            </a:avLst>
          </a:prstGeom>
          <a:solidFill>
            <a:srgbClr val="0E2234"/>
          </a:solidFill>
          <a:ln w="19050">
            <a:solidFill>
              <a:srgbClr val="65E4D4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1085850" y="2209800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65E4D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343360" y="2293620"/>
            <a:ext cx="2850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NOW</a:t>
            </a:r>
            <a:endParaRPr lang="en-US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77468" y="2698432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接入真实系统</a:t>
            </a:r>
            <a:endParaRPr lang="zh-CN" sz="16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80135" y="3193256"/>
            <a:ext cx="24690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项目管理 / 合同 / 审批平台实时同步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3886200" y="30765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65E4D4"/>
            </a:solidFill>
            <a:custDash>
              <a:ds d="300000" sp="400000"/>
            </a:custDash>
          </a:ln>
        </p:spPr>
      </p:sp>
      <p:sp>
        <p:nvSpPr>
          <p:cNvPr id="43" name="Rectangle 43"/>
          <p:cNvSpPr/>
          <p:nvPr/>
        </p:nvSpPr>
        <p:spPr>
          <a:xfrm>
            <a:off x="4400550" y="1981200"/>
            <a:ext cx="3048000" cy="2190750"/>
          </a:xfrm>
          <a:prstGeom prst="roundRect">
            <a:avLst>
              <a:gd name="adj" fmla="val 7826"/>
            </a:avLst>
          </a:prstGeom>
          <a:solidFill>
            <a:srgbClr val="0E2234"/>
          </a:solidFill>
          <a:ln w="19050">
            <a:solidFill>
              <a:srgbClr val="4BA3FF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4648200" y="2209800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4BA3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895629" y="2293620"/>
            <a:ext cx="3052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NEXT</a:t>
            </a:r>
            <a:endParaRPr lang="en-US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639818" y="2698432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增加核验能力</a:t>
            </a:r>
            <a:endParaRPr lang="zh-CN" sz="16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642485" y="3193256"/>
            <a:ext cx="580390" cy="962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先批后建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专家论证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责任追究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风险看板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7448550" y="30765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4BA3FF"/>
            </a:solidFill>
            <a:custDash>
              <a:ds d="300000" sp="400000"/>
            </a:custDash>
          </a:ln>
        </p:spPr>
      </p:sp>
      <p:sp>
        <p:nvSpPr>
          <p:cNvPr id="49" name="Rectangle 49"/>
          <p:cNvSpPr/>
          <p:nvPr/>
        </p:nvSpPr>
        <p:spPr>
          <a:xfrm>
            <a:off x="7962900" y="1981200"/>
            <a:ext cx="3048000" cy="2190750"/>
          </a:xfrm>
          <a:prstGeom prst="roundRect">
            <a:avLst>
              <a:gd name="adj" fmla="val 7826"/>
            </a:avLst>
          </a:prstGeom>
          <a:solidFill>
            <a:srgbClr val="0E2234"/>
          </a:solidFill>
          <a:ln w="19050">
            <a:solidFill>
              <a:srgbClr val="B7F36B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210550" y="2209800"/>
            <a:ext cx="800100" cy="266700"/>
          </a:xfrm>
          <a:prstGeom prst="roundRect">
            <a:avLst>
              <a:gd name="adj" fmla="val 50000"/>
            </a:avLst>
          </a:prstGeom>
          <a:solidFill>
            <a:srgbClr val="B7F36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421014" y="2293620"/>
            <a:ext cx="3791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7121F"/>
                </a:solidFill>
                <a:latin typeface="微软雅黑"/>
                <a:ea typeface="微软雅黑"/>
                <a:cs typeface="微软雅黑"/>
              </a:rPr>
              <a:t>SCALE</a:t>
            </a:r>
            <a:endParaRPr lang="en-US" sz="900" b="1" dirty="0">
              <a:solidFill>
                <a:srgbClr val="0712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202168" y="26984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生产化治理</a:t>
            </a:r>
            <a:endParaRPr lang="zh-CN" sz="165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8204835" y="3193256"/>
            <a:ext cx="864870" cy="962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关系型数据库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登录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操作日志</a:t>
            </a:r>
            <a:b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</a:br>
            <a:r>
              <a:rPr lang="zh-CN" sz="1120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报告导出</a:t>
            </a:r>
            <a:endParaRPr lang="zh-CN" sz="1120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29818" y="4965382"/>
            <a:ext cx="60140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5E4D4"/>
                </a:solidFill>
                <a:latin typeface="微软雅黑"/>
                <a:ea typeface="微软雅黑"/>
                <a:cs typeface="微软雅黑"/>
              </a:rPr>
              <a:t>工程数据越真实，智能助手越需要可追溯、可审计、可治理。</a:t>
            </a:r>
            <a:endParaRPr lang="zh-CN" sz="1650" b="1" dirty="0">
              <a:solidFill>
                <a:srgbClr val="65E4D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27532" y="5354955"/>
            <a:ext cx="21570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AF5F7"/>
                </a:solidFill>
                <a:latin typeface="微软雅黑"/>
                <a:ea typeface="微软雅黑"/>
                <a:cs typeface="微软雅黑"/>
              </a:rPr>
              <a:t>谢谢观看 · Q&amp;A</a:t>
            </a:r>
            <a:endParaRPr lang="zh-CN" sz="2100" b="1" dirty="0">
              <a:solidFill>
                <a:srgbClr val="EAF5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705562" y="5476399"/>
            <a:ext cx="18246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9AB3C4"/>
                </a:solidFill>
                <a:latin typeface="微软雅黑"/>
                <a:ea typeface="微软雅黑"/>
                <a:cs typeface="微软雅黑"/>
              </a:rPr>
              <a:t>K COMPANY / DEMO v1.0.0</a:t>
            </a:r>
            <a:endParaRPr lang="en-US" sz="980" b="1" dirty="0">
              <a:solidFill>
                <a:srgbClr val="9AB3C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design_change_agent_demo">
  <a:themeElements>
    <a:clrScheme name="design_change_agent_dem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sign_change_agent_dem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sign_change_agent_dem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5769</Words>
  <Application>WPS 表格</Application>
  <PresentationFormat>On-screen Show (16:9)</PresentationFormat>
  <Paragraphs>1034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Apple Color Emoji</vt:lpstr>
      <vt:lpstr>design_change_agent_demo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#  Answer</cp:lastModifiedBy>
  <cp:revision>2</cp:revision>
  <dcterms:created xsi:type="dcterms:W3CDTF">2026-09-06T11:20:30Z</dcterms:created>
  <dcterms:modified xsi:type="dcterms:W3CDTF">2026-09-06T11:20:30Z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F5C44480496EA74C7D4C9D6A62AEE48E_43</vt:lpwstr>
  </property>
  <property fmtid="{D5CDD505-2E9C-101B-9397-08002B2CF9AE}" pid="3" name="KSOProductBuildVer">
    <vt:lpwstr>2052-12.1.26026.26026</vt:lpwstr>
  </property>
</Properties>
</file>